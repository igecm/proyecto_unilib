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DD0838-1B84-403D-AD74-4DC291780C7A}">
  <a:tblStyle styleId="{80DD0838-1B84-403D-AD74-4DC291780C7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16CB4C7-E29E-4F59-8407-26B8EF2D2BB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f2310f312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f2310f312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ff92cb55e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ff92cb55e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494098a26_0_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494098a26_0_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494098a26_0_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494098a26_0_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8c539ccc7_1_2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a8c539ccc7_1_2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8c539ccc7_0_10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8c539ccc7_0_10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8c539ccc7_0_1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a8c539ccc7_0_11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8c539ccc7_0_12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a8c539ccc7_0_12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8c539ccc7_0_13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a8c539ccc7_0_13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8c539ccc7_0_15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a8c539ccc7_0_15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8c539ccc7_0_16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a8c539ccc7_0_16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8c539ccc7_0_18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a8c539ccc7_0_18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f2310f312_0_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ef2310f312_0_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f2310f312_0_1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ef2310f312_0_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f2310f312_0_3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ef2310f312_0_3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8c539ccc7_0_20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a8c539ccc7_0_20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ff92cb55e_0_1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eff92cb55e_0_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494098a26_0_2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f494098a26_0_2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340359" y="101282"/>
            <a:ext cx="7566025" cy="716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3130295" y="3306064"/>
            <a:ext cx="5917565" cy="2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indent="0" lvl="1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indent="0" lvl="2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indent="0" lvl="3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indent="0" lvl="4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indent="0" lvl="5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indent="0" lvl="6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indent="0" lvl="7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indent="0" lvl="8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pPr indent="0" lvl="0" marL="1301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81878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05625" y="190500"/>
            <a:ext cx="5076825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0" y="0"/>
            <a:ext cx="6467475" cy="5743575"/>
          </a:xfrm>
          <a:custGeom>
            <a:rect b="b" l="l" r="r" t="t"/>
            <a:pathLst>
              <a:path extrusionOk="0" h="5743575" w="6467475">
                <a:moveTo>
                  <a:pt x="4151249" y="0"/>
                </a:moveTo>
                <a:lnTo>
                  <a:pt x="744410" y="0"/>
                </a:lnTo>
                <a:lnTo>
                  <a:pt x="453986" y="113410"/>
                </a:lnTo>
                <a:lnTo>
                  <a:pt x="405163" y="134809"/>
                </a:lnTo>
                <a:lnTo>
                  <a:pt x="356781" y="156713"/>
                </a:lnTo>
                <a:lnTo>
                  <a:pt x="308844" y="179117"/>
                </a:lnTo>
                <a:lnTo>
                  <a:pt x="261361" y="202019"/>
                </a:lnTo>
                <a:lnTo>
                  <a:pt x="214337" y="225415"/>
                </a:lnTo>
                <a:lnTo>
                  <a:pt x="167779" y="249300"/>
                </a:lnTo>
                <a:lnTo>
                  <a:pt x="0" y="344677"/>
                </a:lnTo>
                <a:lnTo>
                  <a:pt x="0" y="5112766"/>
                </a:lnTo>
                <a:lnTo>
                  <a:pt x="167779" y="5208143"/>
                </a:lnTo>
                <a:lnTo>
                  <a:pt x="209361" y="5229499"/>
                </a:lnTo>
                <a:lnTo>
                  <a:pt x="251316" y="5250473"/>
                </a:lnTo>
                <a:lnTo>
                  <a:pt x="293639" y="5271060"/>
                </a:lnTo>
                <a:lnTo>
                  <a:pt x="336326" y="5291258"/>
                </a:lnTo>
                <a:lnTo>
                  <a:pt x="379372" y="5311063"/>
                </a:lnTo>
                <a:lnTo>
                  <a:pt x="422772" y="5330472"/>
                </a:lnTo>
                <a:lnTo>
                  <a:pt x="466523" y="5349481"/>
                </a:lnTo>
                <a:lnTo>
                  <a:pt x="510620" y="5368087"/>
                </a:lnTo>
                <a:lnTo>
                  <a:pt x="555058" y="5386287"/>
                </a:lnTo>
                <a:lnTo>
                  <a:pt x="599832" y="5404078"/>
                </a:lnTo>
                <a:lnTo>
                  <a:pt x="644940" y="5421455"/>
                </a:lnTo>
                <a:lnTo>
                  <a:pt x="690375" y="5438415"/>
                </a:lnTo>
                <a:lnTo>
                  <a:pt x="736133" y="5454956"/>
                </a:lnTo>
                <a:lnTo>
                  <a:pt x="782211" y="5471074"/>
                </a:lnTo>
                <a:lnTo>
                  <a:pt x="828603" y="5486765"/>
                </a:lnTo>
                <a:lnTo>
                  <a:pt x="875305" y="5502027"/>
                </a:lnTo>
                <a:lnTo>
                  <a:pt x="922313" y="5516855"/>
                </a:lnTo>
                <a:lnTo>
                  <a:pt x="969622" y="5531246"/>
                </a:lnTo>
                <a:lnTo>
                  <a:pt x="1017228" y="5545198"/>
                </a:lnTo>
                <a:lnTo>
                  <a:pt x="1065126" y="5558706"/>
                </a:lnTo>
                <a:lnTo>
                  <a:pt x="1113311" y="5571768"/>
                </a:lnTo>
                <a:lnTo>
                  <a:pt x="1161780" y="5584380"/>
                </a:lnTo>
                <a:lnTo>
                  <a:pt x="1210528" y="5596538"/>
                </a:lnTo>
                <a:lnTo>
                  <a:pt x="1259550" y="5608239"/>
                </a:lnTo>
                <a:lnTo>
                  <a:pt x="1308841" y="5619480"/>
                </a:lnTo>
                <a:lnTo>
                  <a:pt x="1358399" y="5630258"/>
                </a:lnTo>
                <a:lnTo>
                  <a:pt x="1408217" y="5640569"/>
                </a:lnTo>
                <a:lnTo>
                  <a:pt x="1458291" y="5650410"/>
                </a:lnTo>
                <a:lnTo>
                  <a:pt x="1508618" y="5659777"/>
                </a:lnTo>
                <a:lnTo>
                  <a:pt x="1559192" y="5668667"/>
                </a:lnTo>
                <a:lnTo>
                  <a:pt x="1610009" y="5677077"/>
                </a:lnTo>
                <a:lnTo>
                  <a:pt x="1661065" y="5685004"/>
                </a:lnTo>
                <a:lnTo>
                  <a:pt x="1712355" y="5692443"/>
                </a:lnTo>
                <a:lnTo>
                  <a:pt x="1763875" y="5699392"/>
                </a:lnTo>
                <a:lnTo>
                  <a:pt x="1815619" y="5705847"/>
                </a:lnTo>
                <a:lnTo>
                  <a:pt x="1867585" y="5711805"/>
                </a:lnTo>
                <a:lnTo>
                  <a:pt x="1919767" y="5717263"/>
                </a:lnTo>
                <a:lnTo>
                  <a:pt x="1972160" y="5722217"/>
                </a:lnTo>
                <a:lnTo>
                  <a:pt x="2024761" y="5726663"/>
                </a:lnTo>
                <a:lnTo>
                  <a:pt x="2077565" y="5730599"/>
                </a:lnTo>
                <a:lnTo>
                  <a:pt x="2130567" y="5734022"/>
                </a:lnTo>
                <a:lnTo>
                  <a:pt x="2183763" y="5736927"/>
                </a:lnTo>
                <a:lnTo>
                  <a:pt x="2237149" y="5739311"/>
                </a:lnTo>
                <a:lnTo>
                  <a:pt x="2290719" y="5741171"/>
                </a:lnTo>
                <a:lnTo>
                  <a:pt x="2344471" y="5742504"/>
                </a:lnTo>
                <a:lnTo>
                  <a:pt x="2398398" y="5743306"/>
                </a:lnTo>
                <a:lnTo>
                  <a:pt x="2452497" y="5743575"/>
                </a:lnTo>
                <a:lnTo>
                  <a:pt x="2507387" y="5743299"/>
                </a:lnTo>
                <a:lnTo>
                  <a:pt x="2562101" y="5742473"/>
                </a:lnTo>
                <a:lnTo>
                  <a:pt x="2616633" y="5741101"/>
                </a:lnTo>
                <a:lnTo>
                  <a:pt x="2670980" y="5739187"/>
                </a:lnTo>
                <a:lnTo>
                  <a:pt x="2725135" y="5736733"/>
                </a:lnTo>
                <a:lnTo>
                  <a:pt x="2779096" y="5733744"/>
                </a:lnTo>
                <a:lnTo>
                  <a:pt x="2832856" y="5730223"/>
                </a:lnTo>
                <a:lnTo>
                  <a:pt x="2886411" y="5726173"/>
                </a:lnTo>
                <a:lnTo>
                  <a:pt x="2939757" y="5721598"/>
                </a:lnTo>
                <a:lnTo>
                  <a:pt x="2992889" y="5716501"/>
                </a:lnTo>
                <a:lnTo>
                  <a:pt x="3045803" y="5710887"/>
                </a:lnTo>
                <a:lnTo>
                  <a:pt x="3098492" y="5704757"/>
                </a:lnTo>
                <a:lnTo>
                  <a:pt x="3150954" y="5698117"/>
                </a:lnTo>
                <a:lnTo>
                  <a:pt x="3203183" y="5690969"/>
                </a:lnTo>
                <a:lnTo>
                  <a:pt x="3255175" y="5683317"/>
                </a:lnTo>
                <a:lnTo>
                  <a:pt x="3306925" y="5675164"/>
                </a:lnTo>
                <a:lnTo>
                  <a:pt x="3358428" y="5666514"/>
                </a:lnTo>
                <a:lnTo>
                  <a:pt x="3409679" y="5657371"/>
                </a:lnTo>
                <a:lnTo>
                  <a:pt x="3460675" y="5647738"/>
                </a:lnTo>
                <a:lnTo>
                  <a:pt x="3511410" y="5637618"/>
                </a:lnTo>
                <a:lnTo>
                  <a:pt x="3561879" y="5627014"/>
                </a:lnTo>
                <a:lnTo>
                  <a:pt x="3612078" y="5615932"/>
                </a:lnTo>
                <a:lnTo>
                  <a:pt x="3662003" y="5604373"/>
                </a:lnTo>
                <a:lnTo>
                  <a:pt x="3711648" y="5592342"/>
                </a:lnTo>
                <a:lnTo>
                  <a:pt x="3761010" y="5579841"/>
                </a:lnTo>
                <a:lnTo>
                  <a:pt x="3810082" y="5566876"/>
                </a:lnTo>
                <a:lnTo>
                  <a:pt x="3858861" y="5553448"/>
                </a:lnTo>
                <a:lnTo>
                  <a:pt x="3907342" y="5539561"/>
                </a:lnTo>
                <a:lnTo>
                  <a:pt x="3955521" y="5525219"/>
                </a:lnTo>
                <a:lnTo>
                  <a:pt x="4003392" y="5510426"/>
                </a:lnTo>
                <a:lnTo>
                  <a:pt x="4050951" y="5495185"/>
                </a:lnTo>
                <a:lnTo>
                  <a:pt x="4098193" y="5479500"/>
                </a:lnTo>
                <a:lnTo>
                  <a:pt x="4145114" y="5463373"/>
                </a:lnTo>
                <a:lnTo>
                  <a:pt x="4191709" y="5446809"/>
                </a:lnTo>
                <a:lnTo>
                  <a:pt x="4237973" y="5429810"/>
                </a:lnTo>
                <a:lnTo>
                  <a:pt x="4283901" y="5412382"/>
                </a:lnTo>
                <a:lnTo>
                  <a:pt x="4329490" y="5394526"/>
                </a:lnTo>
                <a:lnTo>
                  <a:pt x="4374734" y="5376247"/>
                </a:lnTo>
                <a:lnTo>
                  <a:pt x="4419629" y="5357547"/>
                </a:lnTo>
                <a:lnTo>
                  <a:pt x="4464169" y="5338431"/>
                </a:lnTo>
                <a:lnTo>
                  <a:pt x="4508351" y="5318903"/>
                </a:lnTo>
                <a:lnTo>
                  <a:pt x="4552170" y="5298964"/>
                </a:lnTo>
                <a:lnTo>
                  <a:pt x="4595620" y="5278620"/>
                </a:lnTo>
                <a:lnTo>
                  <a:pt x="4638698" y="5257873"/>
                </a:lnTo>
                <a:lnTo>
                  <a:pt x="4681398" y="5236727"/>
                </a:lnTo>
                <a:lnTo>
                  <a:pt x="4723717" y="5215186"/>
                </a:lnTo>
                <a:lnTo>
                  <a:pt x="4765648" y="5193253"/>
                </a:lnTo>
                <a:lnTo>
                  <a:pt x="4807189" y="5170931"/>
                </a:lnTo>
                <a:lnTo>
                  <a:pt x="4848333" y="5148224"/>
                </a:lnTo>
                <a:lnTo>
                  <a:pt x="4889077" y="5125136"/>
                </a:lnTo>
                <a:lnTo>
                  <a:pt x="4929415" y="5101670"/>
                </a:lnTo>
                <a:lnTo>
                  <a:pt x="4969343" y="5077829"/>
                </a:lnTo>
                <a:lnTo>
                  <a:pt x="5008856" y="5053617"/>
                </a:lnTo>
                <a:lnTo>
                  <a:pt x="5047950" y="5029038"/>
                </a:lnTo>
                <a:lnTo>
                  <a:pt x="5086621" y="5004095"/>
                </a:lnTo>
                <a:lnTo>
                  <a:pt x="5124862" y="4978792"/>
                </a:lnTo>
                <a:lnTo>
                  <a:pt x="5162670" y="4953131"/>
                </a:lnTo>
                <a:lnTo>
                  <a:pt x="5200040" y="4927117"/>
                </a:lnTo>
                <a:lnTo>
                  <a:pt x="5236967" y="4900754"/>
                </a:lnTo>
                <a:lnTo>
                  <a:pt x="5273447" y="4874043"/>
                </a:lnTo>
                <a:lnTo>
                  <a:pt x="5309475" y="4846990"/>
                </a:lnTo>
                <a:lnTo>
                  <a:pt x="5345046" y="4819597"/>
                </a:lnTo>
                <a:lnTo>
                  <a:pt x="5380156" y="4791869"/>
                </a:lnTo>
                <a:lnTo>
                  <a:pt x="5414800" y="4763808"/>
                </a:lnTo>
                <a:lnTo>
                  <a:pt x="5448973" y="4735418"/>
                </a:lnTo>
                <a:lnTo>
                  <a:pt x="5482671" y="4706703"/>
                </a:lnTo>
                <a:lnTo>
                  <a:pt x="5515889" y="4677665"/>
                </a:lnTo>
                <a:lnTo>
                  <a:pt x="5548622" y="4648310"/>
                </a:lnTo>
                <a:lnTo>
                  <a:pt x="5580866" y="4618639"/>
                </a:lnTo>
                <a:lnTo>
                  <a:pt x="5612615" y="4588657"/>
                </a:lnTo>
                <a:lnTo>
                  <a:pt x="5643866" y="4558367"/>
                </a:lnTo>
                <a:lnTo>
                  <a:pt x="5674614" y="4527773"/>
                </a:lnTo>
                <a:lnTo>
                  <a:pt x="5704854" y="4496878"/>
                </a:lnTo>
                <a:lnTo>
                  <a:pt x="5734581" y="4465685"/>
                </a:lnTo>
                <a:lnTo>
                  <a:pt x="5763790" y="4434199"/>
                </a:lnTo>
                <a:lnTo>
                  <a:pt x="5792478" y="4402422"/>
                </a:lnTo>
                <a:lnTo>
                  <a:pt x="5820639" y="4370358"/>
                </a:lnTo>
                <a:lnTo>
                  <a:pt x="5848269" y="4338011"/>
                </a:lnTo>
                <a:lnTo>
                  <a:pt x="5875362" y="4305384"/>
                </a:lnTo>
                <a:lnTo>
                  <a:pt x="5901915" y="4272481"/>
                </a:lnTo>
                <a:lnTo>
                  <a:pt x="5927923" y="4239304"/>
                </a:lnTo>
                <a:lnTo>
                  <a:pt x="5953380" y="4205859"/>
                </a:lnTo>
                <a:lnTo>
                  <a:pt x="5978283" y="4172147"/>
                </a:lnTo>
                <a:lnTo>
                  <a:pt x="6002626" y="4138173"/>
                </a:lnTo>
                <a:lnTo>
                  <a:pt x="6026406" y="4103941"/>
                </a:lnTo>
                <a:lnTo>
                  <a:pt x="6049617" y="4069453"/>
                </a:lnTo>
                <a:lnTo>
                  <a:pt x="6072254" y="4034713"/>
                </a:lnTo>
                <a:lnTo>
                  <a:pt x="6094314" y="3999725"/>
                </a:lnTo>
                <a:lnTo>
                  <a:pt x="6115791" y="3964492"/>
                </a:lnTo>
                <a:lnTo>
                  <a:pt x="6136680" y="3929017"/>
                </a:lnTo>
                <a:lnTo>
                  <a:pt x="6156977" y="3893305"/>
                </a:lnTo>
                <a:lnTo>
                  <a:pt x="6176678" y="3857358"/>
                </a:lnTo>
                <a:lnTo>
                  <a:pt x="6195778" y="3821181"/>
                </a:lnTo>
                <a:lnTo>
                  <a:pt x="6214271" y="3784776"/>
                </a:lnTo>
                <a:lnTo>
                  <a:pt x="6232154" y="3748148"/>
                </a:lnTo>
                <a:lnTo>
                  <a:pt x="6249421" y="3711299"/>
                </a:lnTo>
                <a:lnTo>
                  <a:pt x="6266069" y="3674233"/>
                </a:lnTo>
                <a:lnTo>
                  <a:pt x="6282092" y="3636954"/>
                </a:lnTo>
                <a:lnTo>
                  <a:pt x="6297485" y="3599465"/>
                </a:lnTo>
                <a:lnTo>
                  <a:pt x="6312244" y="3561770"/>
                </a:lnTo>
                <a:lnTo>
                  <a:pt x="6326365" y="3523872"/>
                </a:lnTo>
                <a:lnTo>
                  <a:pt x="6339843" y="3485775"/>
                </a:lnTo>
                <a:lnTo>
                  <a:pt x="6352672" y="3447482"/>
                </a:lnTo>
                <a:lnTo>
                  <a:pt x="6364849" y="3408997"/>
                </a:lnTo>
                <a:lnTo>
                  <a:pt x="6376368" y="3370323"/>
                </a:lnTo>
                <a:lnTo>
                  <a:pt x="6387226" y="3331463"/>
                </a:lnTo>
                <a:lnTo>
                  <a:pt x="6397416" y="3292422"/>
                </a:lnTo>
                <a:lnTo>
                  <a:pt x="6406936" y="3253203"/>
                </a:lnTo>
                <a:lnTo>
                  <a:pt x="6415779" y="3213809"/>
                </a:lnTo>
                <a:lnTo>
                  <a:pt x="6423942" y="3174243"/>
                </a:lnTo>
                <a:lnTo>
                  <a:pt x="6431419" y="3134510"/>
                </a:lnTo>
                <a:lnTo>
                  <a:pt x="6438207" y="3094613"/>
                </a:lnTo>
                <a:lnTo>
                  <a:pt x="6444300" y="3054554"/>
                </a:lnTo>
                <a:lnTo>
                  <a:pt x="6449693" y="3014339"/>
                </a:lnTo>
                <a:lnTo>
                  <a:pt x="6454383" y="2973970"/>
                </a:lnTo>
                <a:lnTo>
                  <a:pt x="6458364" y="2933450"/>
                </a:lnTo>
                <a:lnTo>
                  <a:pt x="6461631" y="2892784"/>
                </a:lnTo>
                <a:lnTo>
                  <a:pt x="6464181" y="2851974"/>
                </a:lnTo>
                <a:lnTo>
                  <a:pt x="6466007" y="2811025"/>
                </a:lnTo>
                <a:lnTo>
                  <a:pt x="6467107" y="2769940"/>
                </a:lnTo>
                <a:lnTo>
                  <a:pt x="6467475" y="2728722"/>
                </a:lnTo>
                <a:lnTo>
                  <a:pt x="6467022" y="2683016"/>
                </a:lnTo>
                <a:lnTo>
                  <a:pt x="6465670" y="2637473"/>
                </a:lnTo>
                <a:lnTo>
                  <a:pt x="6463425" y="2592099"/>
                </a:lnTo>
                <a:lnTo>
                  <a:pt x="6460292" y="2546899"/>
                </a:lnTo>
                <a:lnTo>
                  <a:pt x="6456279" y="2501876"/>
                </a:lnTo>
                <a:lnTo>
                  <a:pt x="6451391" y="2457035"/>
                </a:lnTo>
                <a:lnTo>
                  <a:pt x="6445635" y="2412383"/>
                </a:lnTo>
                <a:lnTo>
                  <a:pt x="6439017" y="2367922"/>
                </a:lnTo>
                <a:lnTo>
                  <a:pt x="6431544" y="2323659"/>
                </a:lnTo>
                <a:lnTo>
                  <a:pt x="6423222" y="2279597"/>
                </a:lnTo>
                <a:lnTo>
                  <a:pt x="6414057" y="2235742"/>
                </a:lnTo>
                <a:lnTo>
                  <a:pt x="6404057" y="2192099"/>
                </a:lnTo>
                <a:lnTo>
                  <a:pt x="6393226" y="2148671"/>
                </a:lnTo>
                <a:lnTo>
                  <a:pt x="6381572" y="2105465"/>
                </a:lnTo>
                <a:lnTo>
                  <a:pt x="6369100" y="2062485"/>
                </a:lnTo>
                <a:lnTo>
                  <a:pt x="6355818" y="2019735"/>
                </a:lnTo>
                <a:lnTo>
                  <a:pt x="6341732" y="1977220"/>
                </a:lnTo>
                <a:lnTo>
                  <a:pt x="6326847" y="1934945"/>
                </a:lnTo>
                <a:lnTo>
                  <a:pt x="6311171" y="1892916"/>
                </a:lnTo>
                <a:lnTo>
                  <a:pt x="6294709" y="1851136"/>
                </a:lnTo>
                <a:lnTo>
                  <a:pt x="6277469" y="1809611"/>
                </a:lnTo>
                <a:lnTo>
                  <a:pt x="6259456" y="1768345"/>
                </a:lnTo>
                <a:lnTo>
                  <a:pt x="6240677" y="1727343"/>
                </a:lnTo>
                <a:lnTo>
                  <a:pt x="6221138" y="1686609"/>
                </a:lnTo>
                <a:lnTo>
                  <a:pt x="6200845" y="1646150"/>
                </a:lnTo>
                <a:lnTo>
                  <a:pt x="6179805" y="1605969"/>
                </a:lnTo>
                <a:lnTo>
                  <a:pt x="6158025" y="1566071"/>
                </a:lnTo>
                <a:lnTo>
                  <a:pt x="6135510" y="1526461"/>
                </a:lnTo>
                <a:lnTo>
                  <a:pt x="6112268" y="1487144"/>
                </a:lnTo>
                <a:lnTo>
                  <a:pt x="6088303" y="1448125"/>
                </a:lnTo>
                <a:lnTo>
                  <a:pt x="6063624" y="1409407"/>
                </a:lnTo>
                <a:lnTo>
                  <a:pt x="6038235" y="1370998"/>
                </a:lnTo>
                <a:lnTo>
                  <a:pt x="6012144" y="1332899"/>
                </a:lnTo>
                <a:lnTo>
                  <a:pt x="5985357" y="1295118"/>
                </a:lnTo>
                <a:lnTo>
                  <a:pt x="5957880" y="1257658"/>
                </a:lnTo>
                <a:lnTo>
                  <a:pt x="5929720" y="1220525"/>
                </a:lnTo>
                <a:lnTo>
                  <a:pt x="5900882" y="1183722"/>
                </a:lnTo>
                <a:lnTo>
                  <a:pt x="5871374" y="1147256"/>
                </a:lnTo>
                <a:lnTo>
                  <a:pt x="5841201" y="1111130"/>
                </a:lnTo>
                <a:lnTo>
                  <a:pt x="5810371" y="1075349"/>
                </a:lnTo>
                <a:lnTo>
                  <a:pt x="5778889" y="1039919"/>
                </a:lnTo>
                <a:lnTo>
                  <a:pt x="5746761" y="1004844"/>
                </a:lnTo>
                <a:lnTo>
                  <a:pt x="5713995" y="970128"/>
                </a:lnTo>
                <a:lnTo>
                  <a:pt x="5680597" y="935778"/>
                </a:lnTo>
                <a:lnTo>
                  <a:pt x="5646572" y="901796"/>
                </a:lnTo>
                <a:lnTo>
                  <a:pt x="5611927" y="868189"/>
                </a:lnTo>
                <a:lnTo>
                  <a:pt x="5576669" y="834960"/>
                </a:lnTo>
                <a:lnTo>
                  <a:pt x="5540804" y="802116"/>
                </a:lnTo>
                <a:lnTo>
                  <a:pt x="5504339" y="769660"/>
                </a:lnTo>
                <a:lnTo>
                  <a:pt x="5467279" y="737597"/>
                </a:lnTo>
                <a:lnTo>
                  <a:pt x="5429631" y="705932"/>
                </a:lnTo>
                <a:lnTo>
                  <a:pt x="5391402" y="674670"/>
                </a:lnTo>
                <a:lnTo>
                  <a:pt x="5352597" y="643816"/>
                </a:lnTo>
                <a:lnTo>
                  <a:pt x="5313224" y="613374"/>
                </a:lnTo>
                <a:lnTo>
                  <a:pt x="5273288" y="583350"/>
                </a:lnTo>
                <a:lnTo>
                  <a:pt x="5232796" y="553747"/>
                </a:lnTo>
                <a:lnTo>
                  <a:pt x="5191754" y="524571"/>
                </a:lnTo>
                <a:lnTo>
                  <a:pt x="5150169" y="495827"/>
                </a:lnTo>
                <a:lnTo>
                  <a:pt x="5108047" y="467520"/>
                </a:lnTo>
                <a:lnTo>
                  <a:pt x="5065395" y="439653"/>
                </a:lnTo>
                <a:lnTo>
                  <a:pt x="5022218" y="412233"/>
                </a:lnTo>
                <a:lnTo>
                  <a:pt x="4978523" y="385263"/>
                </a:lnTo>
                <a:lnTo>
                  <a:pt x="4934316" y="358748"/>
                </a:lnTo>
                <a:lnTo>
                  <a:pt x="4889605" y="332695"/>
                </a:lnTo>
                <a:lnTo>
                  <a:pt x="4844395" y="307106"/>
                </a:lnTo>
                <a:lnTo>
                  <a:pt x="4798692" y="281987"/>
                </a:lnTo>
                <a:lnTo>
                  <a:pt x="4752503" y="257342"/>
                </a:lnTo>
                <a:lnTo>
                  <a:pt x="4705835" y="233177"/>
                </a:lnTo>
                <a:lnTo>
                  <a:pt x="4658693" y="209497"/>
                </a:lnTo>
                <a:lnTo>
                  <a:pt x="4611084" y="186305"/>
                </a:lnTo>
                <a:lnTo>
                  <a:pt x="4563015" y="163608"/>
                </a:lnTo>
                <a:lnTo>
                  <a:pt x="4514492" y="141408"/>
                </a:lnTo>
                <a:lnTo>
                  <a:pt x="4465520" y="119713"/>
                </a:lnTo>
                <a:lnTo>
                  <a:pt x="4416107" y="98525"/>
                </a:lnTo>
                <a:lnTo>
                  <a:pt x="4366260" y="77850"/>
                </a:lnTo>
                <a:lnTo>
                  <a:pt x="4151249" y="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75"/>
            <a:ext cx="6286500" cy="55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>
            <p:ph type="title"/>
          </p:nvPr>
        </p:nvSpPr>
        <p:spPr>
          <a:xfrm>
            <a:off x="340359" y="101282"/>
            <a:ext cx="7566025" cy="716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indent="0" lvl="1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indent="0" lvl="2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indent="0" lvl="3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indent="0" lvl="4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indent="0" lvl="5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indent="0" lvl="6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indent="0" lvl="7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indent="0" lvl="8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pPr indent="0" lvl="0" marL="1301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ctrTitle"/>
          </p:nvPr>
        </p:nvSpPr>
        <p:spPr>
          <a:xfrm>
            <a:off x="2432304" y="334962"/>
            <a:ext cx="4178300" cy="483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indent="0" lvl="1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indent="0" lvl="2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indent="0" lvl="3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indent="0" lvl="4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indent="0" lvl="5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indent="0" lvl="6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indent="0" lvl="7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indent="0" lvl="8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pPr indent="0" lvl="0" marL="1301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indent="0" lvl="1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indent="0" lvl="2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indent="0" lvl="3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indent="0" lvl="4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indent="0" lvl="5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indent="0" lvl="6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indent="0" lvl="7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indent="0" lvl="8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pPr indent="0" lvl="0" marL="1301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340359" y="101282"/>
            <a:ext cx="7566025" cy="716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indent="0" lvl="1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indent="0" lvl="2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indent="0" lvl="3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indent="0" lvl="4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indent="0" lvl="5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indent="0" lvl="6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indent="0" lvl="7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indent="0" lvl="8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pPr indent="0" lvl="0" marL="1301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828800" y="209550"/>
            <a:ext cx="6410325" cy="819150"/>
          </a:xfrm>
          <a:custGeom>
            <a:rect b="b" l="l" r="r" t="t"/>
            <a:pathLst>
              <a:path extrusionOk="0" h="819150" w="6410325">
                <a:moveTo>
                  <a:pt x="6410325" y="0"/>
                </a:moveTo>
                <a:lnTo>
                  <a:pt x="371094" y="0"/>
                </a:lnTo>
                <a:lnTo>
                  <a:pt x="0" y="819150"/>
                </a:lnTo>
                <a:lnTo>
                  <a:pt x="6039231" y="819150"/>
                </a:lnTo>
                <a:lnTo>
                  <a:pt x="6410325" y="0"/>
                </a:lnTo>
                <a:close/>
              </a:path>
            </a:pathLst>
          </a:custGeom>
          <a:solidFill>
            <a:srgbClr val="81878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028700" y="209550"/>
            <a:ext cx="1200150" cy="819150"/>
          </a:xfrm>
          <a:custGeom>
            <a:rect b="b" l="l" r="r" t="t"/>
            <a:pathLst>
              <a:path extrusionOk="0" h="819150" w="1200150">
                <a:moveTo>
                  <a:pt x="1200150" y="0"/>
                </a:moveTo>
                <a:lnTo>
                  <a:pt x="371094" y="0"/>
                </a:lnTo>
                <a:lnTo>
                  <a:pt x="0" y="819150"/>
                </a:lnTo>
                <a:lnTo>
                  <a:pt x="829056" y="819150"/>
                </a:lnTo>
                <a:lnTo>
                  <a:pt x="1200150" y="0"/>
                </a:lnTo>
                <a:close/>
              </a:path>
            </a:pathLst>
          </a:custGeom>
          <a:solidFill>
            <a:srgbClr val="81889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90500" y="209550"/>
            <a:ext cx="1209675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48650" y="400050"/>
            <a:ext cx="364807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>
            <p:ph type="title"/>
          </p:nvPr>
        </p:nvSpPr>
        <p:spPr>
          <a:xfrm>
            <a:off x="340359" y="101282"/>
            <a:ext cx="7566025" cy="716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30295" y="3306064"/>
            <a:ext cx="5917565" cy="2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indent="0" lvl="1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indent="0" lvl="2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indent="0" lvl="3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indent="0" lvl="4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indent="0" lvl="5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indent="0" lvl="6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indent="0" lvl="7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indent="0" lvl="8" marL="130175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pPr indent="0" lvl="0" marL="1301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Relationship Id="rId4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Relationship Id="rId4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Relationship Id="rId4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81878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" name="Google Shape;52;p7"/>
          <p:cNvGrpSpPr/>
          <p:nvPr/>
        </p:nvGrpSpPr>
        <p:grpSpPr>
          <a:xfrm>
            <a:off x="0" y="0"/>
            <a:ext cx="6172200" cy="6858000"/>
            <a:chOff x="0" y="0"/>
            <a:chExt cx="6172200" cy="6858000"/>
          </a:xfrm>
        </p:grpSpPr>
        <p:sp>
          <p:nvSpPr>
            <p:cNvPr id="53" name="Google Shape;53;p7"/>
            <p:cNvSpPr/>
            <p:nvPr/>
          </p:nvSpPr>
          <p:spPr>
            <a:xfrm>
              <a:off x="0" y="0"/>
              <a:ext cx="6172200" cy="6858000"/>
            </a:xfrm>
            <a:custGeom>
              <a:rect b="b" l="l" r="r" t="t"/>
              <a:pathLst>
                <a:path extrusionOk="0" h="6858000" w="6172200">
                  <a:moveTo>
                    <a:pt x="6103112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764536" y="6857999"/>
                  </a:lnTo>
                  <a:lnTo>
                    <a:pt x="2896362" y="6782205"/>
                  </a:lnTo>
                  <a:lnTo>
                    <a:pt x="2937182" y="6757202"/>
                  </a:lnTo>
                  <a:lnTo>
                    <a:pt x="2977813" y="6731921"/>
                  </a:lnTo>
                  <a:lnTo>
                    <a:pt x="3018252" y="6706364"/>
                  </a:lnTo>
                  <a:lnTo>
                    <a:pt x="3058499" y="6680530"/>
                  </a:lnTo>
                  <a:lnTo>
                    <a:pt x="3098551" y="6654423"/>
                  </a:lnTo>
                  <a:lnTo>
                    <a:pt x="3138409" y="6628042"/>
                  </a:lnTo>
                  <a:lnTo>
                    <a:pt x="3178070" y="6601390"/>
                  </a:lnTo>
                  <a:lnTo>
                    <a:pt x="3217532" y="6574467"/>
                  </a:lnTo>
                  <a:lnTo>
                    <a:pt x="3256796" y="6547275"/>
                  </a:lnTo>
                  <a:lnTo>
                    <a:pt x="3295859" y="6519816"/>
                  </a:lnTo>
                  <a:lnTo>
                    <a:pt x="3334720" y="6492090"/>
                  </a:lnTo>
                  <a:lnTo>
                    <a:pt x="3373378" y="6464099"/>
                  </a:lnTo>
                  <a:lnTo>
                    <a:pt x="3411831" y="6435845"/>
                  </a:lnTo>
                  <a:lnTo>
                    <a:pt x="3450078" y="6407328"/>
                  </a:lnTo>
                  <a:lnTo>
                    <a:pt x="3488119" y="6378550"/>
                  </a:lnTo>
                  <a:lnTo>
                    <a:pt x="3525950" y="6349513"/>
                  </a:lnTo>
                  <a:lnTo>
                    <a:pt x="3563572" y="6320216"/>
                  </a:lnTo>
                  <a:lnTo>
                    <a:pt x="3600982" y="6290663"/>
                  </a:lnTo>
                  <a:lnTo>
                    <a:pt x="3638180" y="6260854"/>
                  </a:lnTo>
                  <a:lnTo>
                    <a:pt x="3675164" y="6230791"/>
                  </a:lnTo>
                  <a:lnTo>
                    <a:pt x="3711933" y="6200475"/>
                  </a:lnTo>
                  <a:lnTo>
                    <a:pt x="3748486" y="6169907"/>
                  </a:lnTo>
                  <a:lnTo>
                    <a:pt x="3784820" y="6139088"/>
                  </a:lnTo>
                  <a:lnTo>
                    <a:pt x="3820936" y="6108020"/>
                  </a:lnTo>
                  <a:lnTo>
                    <a:pt x="3856831" y="6076705"/>
                  </a:lnTo>
                  <a:lnTo>
                    <a:pt x="3892504" y="6045143"/>
                  </a:lnTo>
                  <a:lnTo>
                    <a:pt x="3927954" y="6013336"/>
                  </a:lnTo>
                  <a:lnTo>
                    <a:pt x="3963179" y="5981285"/>
                  </a:lnTo>
                  <a:lnTo>
                    <a:pt x="3998179" y="5948991"/>
                  </a:lnTo>
                  <a:lnTo>
                    <a:pt x="4032951" y="5916457"/>
                  </a:lnTo>
                  <a:lnTo>
                    <a:pt x="4067496" y="5883682"/>
                  </a:lnTo>
                  <a:lnTo>
                    <a:pt x="4101810" y="5850669"/>
                  </a:lnTo>
                  <a:lnTo>
                    <a:pt x="4135893" y="5817419"/>
                  </a:lnTo>
                  <a:lnTo>
                    <a:pt x="4169744" y="5783933"/>
                  </a:lnTo>
                  <a:lnTo>
                    <a:pt x="4203361" y="5750212"/>
                  </a:lnTo>
                  <a:lnTo>
                    <a:pt x="4236743" y="5716259"/>
                  </a:lnTo>
                  <a:lnTo>
                    <a:pt x="4269889" y="5682073"/>
                  </a:lnTo>
                  <a:lnTo>
                    <a:pt x="4302797" y="5647657"/>
                  </a:lnTo>
                  <a:lnTo>
                    <a:pt x="4335466" y="5613011"/>
                  </a:lnTo>
                  <a:lnTo>
                    <a:pt x="4367894" y="5578138"/>
                  </a:lnTo>
                  <a:lnTo>
                    <a:pt x="4400081" y="5543038"/>
                  </a:lnTo>
                  <a:lnTo>
                    <a:pt x="4432025" y="5507713"/>
                  </a:lnTo>
                  <a:lnTo>
                    <a:pt x="4463724" y="5472164"/>
                  </a:lnTo>
                  <a:lnTo>
                    <a:pt x="4495178" y="5436392"/>
                  </a:lnTo>
                  <a:lnTo>
                    <a:pt x="4526385" y="5400399"/>
                  </a:lnTo>
                  <a:lnTo>
                    <a:pt x="4557343" y="5364186"/>
                  </a:lnTo>
                  <a:lnTo>
                    <a:pt x="4588052" y="5327755"/>
                  </a:lnTo>
                  <a:lnTo>
                    <a:pt x="4618510" y="5291106"/>
                  </a:lnTo>
                  <a:lnTo>
                    <a:pt x="4648715" y="5254241"/>
                  </a:lnTo>
                  <a:lnTo>
                    <a:pt x="4678667" y="5217162"/>
                  </a:lnTo>
                  <a:lnTo>
                    <a:pt x="4708364" y="5179869"/>
                  </a:lnTo>
                  <a:lnTo>
                    <a:pt x="4737804" y="5142364"/>
                  </a:lnTo>
                  <a:lnTo>
                    <a:pt x="4766987" y="5104649"/>
                  </a:lnTo>
                  <a:lnTo>
                    <a:pt x="4795911" y="5066724"/>
                  </a:lnTo>
                  <a:lnTo>
                    <a:pt x="4824575" y="5028591"/>
                  </a:lnTo>
                  <a:lnTo>
                    <a:pt x="4852977" y="4990252"/>
                  </a:lnTo>
                  <a:lnTo>
                    <a:pt x="4881117" y="4951707"/>
                  </a:lnTo>
                  <a:lnTo>
                    <a:pt x="4908992" y="4912958"/>
                  </a:lnTo>
                  <a:lnTo>
                    <a:pt x="4936601" y="4874007"/>
                  </a:lnTo>
                  <a:lnTo>
                    <a:pt x="4963944" y="4834854"/>
                  </a:lnTo>
                  <a:lnTo>
                    <a:pt x="4991018" y="4795501"/>
                  </a:lnTo>
                  <a:lnTo>
                    <a:pt x="5017823" y="4755949"/>
                  </a:lnTo>
                  <a:lnTo>
                    <a:pt x="5044357" y="4716200"/>
                  </a:lnTo>
                  <a:lnTo>
                    <a:pt x="5070618" y="4676255"/>
                  </a:lnTo>
                  <a:lnTo>
                    <a:pt x="5096606" y="4636115"/>
                  </a:lnTo>
                  <a:lnTo>
                    <a:pt x="5122320" y="4595782"/>
                  </a:lnTo>
                  <a:lnTo>
                    <a:pt x="5147757" y="4555256"/>
                  </a:lnTo>
                  <a:lnTo>
                    <a:pt x="5172916" y="4514540"/>
                  </a:lnTo>
                  <a:lnTo>
                    <a:pt x="5197797" y="4473634"/>
                  </a:lnTo>
                  <a:lnTo>
                    <a:pt x="5222398" y="4432540"/>
                  </a:lnTo>
                  <a:lnTo>
                    <a:pt x="5246717" y="4391260"/>
                  </a:lnTo>
                  <a:lnTo>
                    <a:pt x="5270754" y="4349794"/>
                  </a:lnTo>
                  <a:lnTo>
                    <a:pt x="5294506" y="4308144"/>
                  </a:lnTo>
                  <a:lnTo>
                    <a:pt x="5317973" y="4266311"/>
                  </a:lnTo>
                  <a:lnTo>
                    <a:pt x="5341152" y="4224296"/>
                  </a:lnTo>
                  <a:lnTo>
                    <a:pt x="5364044" y="4182101"/>
                  </a:lnTo>
                  <a:lnTo>
                    <a:pt x="5386647" y="4139728"/>
                  </a:lnTo>
                  <a:lnTo>
                    <a:pt x="5408958" y="4097177"/>
                  </a:lnTo>
                  <a:lnTo>
                    <a:pt x="5430978" y="4054450"/>
                  </a:lnTo>
                  <a:lnTo>
                    <a:pt x="5452704" y="4011547"/>
                  </a:lnTo>
                  <a:lnTo>
                    <a:pt x="5474136" y="3968472"/>
                  </a:lnTo>
                  <a:lnTo>
                    <a:pt x="5495271" y="3925224"/>
                  </a:lnTo>
                  <a:lnTo>
                    <a:pt x="5516109" y="3881805"/>
                  </a:lnTo>
                  <a:lnTo>
                    <a:pt x="5536648" y="3838217"/>
                  </a:lnTo>
                  <a:lnTo>
                    <a:pt x="5556887" y="3794461"/>
                  </a:lnTo>
                  <a:lnTo>
                    <a:pt x="5576825" y="3750537"/>
                  </a:lnTo>
                  <a:lnTo>
                    <a:pt x="5596460" y="3706448"/>
                  </a:lnTo>
                  <a:lnTo>
                    <a:pt x="5615792" y="3662195"/>
                  </a:lnTo>
                  <a:lnTo>
                    <a:pt x="5634817" y="3617779"/>
                  </a:lnTo>
                  <a:lnTo>
                    <a:pt x="5653536" y="3573201"/>
                  </a:lnTo>
                  <a:lnTo>
                    <a:pt x="5671948" y="3528463"/>
                  </a:lnTo>
                  <a:lnTo>
                    <a:pt x="5690049" y="3483566"/>
                  </a:lnTo>
                  <a:lnTo>
                    <a:pt x="5707840" y="3438512"/>
                  </a:lnTo>
                  <a:lnTo>
                    <a:pt x="5725320" y="3393301"/>
                  </a:lnTo>
                  <a:lnTo>
                    <a:pt x="5742485" y="3347935"/>
                  </a:lnTo>
                  <a:lnTo>
                    <a:pt x="5759337" y="3302415"/>
                  </a:lnTo>
                  <a:lnTo>
                    <a:pt x="5775872" y="3256743"/>
                  </a:lnTo>
                  <a:lnTo>
                    <a:pt x="5792090" y="3210921"/>
                  </a:lnTo>
                  <a:lnTo>
                    <a:pt x="5807989" y="3164948"/>
                  </a:lnTo>
                  <a:lnTo>
                    <a:pt x="5823569" y="3118827"/>
                  </a:lnTo>
                  <a:lnTo>
                    <a:pt x="5838827" y="3072560"/>
                  </a:lnTo>
                  <a:lnTo>
                    <a:pt x="5853762" y="3026146"/>
                  </a:lnTo>
                  <a:lnTo>
                    <a:pt x="5868374" y="2979588"/>
                  </a:lnTo>
                  <a:lnTo>
                    <a:pt x="5882660" y="2932887"/>
                  </a:lnTo>
                  <a:lnTo>
                    <a:pt x="5896620" y="2886045"/>
                  </a:lnTo>
                  <a:lnTo>
                    <a:pt x="5910252" y="2839062"/>
                  </a:lnTo>
                  <a:lnTo>
                    <a:pt x="5923555" y="2791940"/>
                  </a:lnTo>
                  <a:lnTo>
                    <a:pt x="5936527" y="2744680"/>
                  </a:lnTo>
                  <a:lnTo>
                    <a:pt x="5949168" y="2697284"/>
                  </a:lnTo>
                  <a:lnTo>
                    <a:pt x="5961475" y="2649752"/>
                  </a:lnTo>
                  <a:lnTo>
                    <a:pt x="5973447" y="2602087"/>
                  </a:lnTo>
                  <a:lnTo>
                    <a:pt x="5985084" y="2554290"/>
                  </a:lnTo>
                  <a:lnTo>
                    <a:pt x="5996384" y="2506361"/>
                  </a:lnTo>
                  <a:lnTo>
                    <a:pt x="6007345" y="2458303"/>
                  </a:lnTo>
                  <a:lnTo>
                    <a:pt x="6017966" y="2410116"/>
                  </a:lnTo>
                  <a:lnTo>
                    <a:pt x="6028246" y="2361802"/>
                  </a:lnTo>
                  <a:lnTo>
                    <a:pt x="6038184" y="2313363"/>
                  </a:lnTo>
                  <a:lnTo>
                    <a:pt x="6047778" y="2264799"/>
                  </a:lnTo>
                  <a:lnTo>
                    <a:pt x="6057026" y="2216111"/>
                  </a:lnTo>
                  <a:lnTo>
                    <a:pt x="6065929" y="2167302"/>
                  </a:lnTo>
                  <a:lnTo>
                    <a:pt x="6074483" y="2118373"/>
                  </a:lnTo>
                  <a:lnTo>
                    <a:pt x="6082689" y="2069324"/>
                  </a:lnTo>
                  <a:lnTo>
                    <a:pt x="6090544" y="2020157"/>
                  </a:lnTo>
                  <a:lnTo>
                    <a:pt x="6098047" y="1970874"/>
                  </a:lnTo>
                  <a:lnTo>
                    <a:pt x="6105197" y="1921476"/>
                  </a:lnTo>
                  <a:lnTo>
                    <a:pt x="6111993" y="1871964"/>
                  </a:lnTo>
                  <a:lnTo>
                    <a:pt x="6118433" y="1822339"/>
                  </a:lnTo>
                  <a:lnTo>
                    <a:pt x="6124515" y="1772603"/>
                  </a:lnTo>
                  <a:lnTo>
                    <a:pt x="6130240" y="1722757"/>
                  </a:lnTo>
                  <a:lnTo>
                    <a:pt x="6135605" y="1672803"/>
                  </a:lnTo>
                  <a:lnTo>
                    <a:pt x="6140609" y="1622741"/>
                  </a:lnTo>
                  <a:lnTo>
                    <a:pt x="6145250" y="1572574"/>
                  </a:lnTo>
                  <a:lnTo>
                    <a:pt x="6149528" y="1522302"/>
                  </a:lnTo>
                  <a:lnTo>
                    <a:pt x="6153440" y="1471927"/>
                  </a:lnTo>
                  <a:lnTo>
                    <a:pt x="6156987" y="1421449"/>
                  </a:lnTo>
                  <a:lnTo>
                    <a:pt x="6160165" y="1370872"/>
                  </a:lnTo>
                  <a:lnTo>
                    <a:pt x="6162975" y="1320194"/>
                  </a:lnTo>
                  <a:lnTo>
                    <a:pt x="6165414" y="1269419"/>
                  </a:lnTo>
                  <a:lnTo>
                    <a:pt x="6167482" y="1218548"/>
                  </a:lnTo>
                  <a:lnTo>
                    <a:pt x="6169177" y="1167581"/>
                  </a:lnTo>
                  <a:lnTo>
                    <a:pt x="6170497" y="1116520"/>
                  </a:lnTo>
                  <a:lnTo>
                    <a:pt x="6171442" y="1065366"/>
                  </a:lnTo>
                  <a:lnTo>
                    <a:pt x="6172010" y="1014121"/>
                  </a:lnTo>
                  <a:lnTo>
                    <a:pt x="6172200" y="962787"/>
                  </a:lnTo>
                  <a:lnTo>
                    <a:pt x="6172017" y="912510"/>
                  </a:lnTo>
                  <a:lnTo>
                    <a:pt x="6171470" y="862320"/>
                  </a:lnTo>
                  <a:lnTo>
                    <a:pt x="6170561" y="812217"/>
                  </a:lnTo>
                  <a:lnTo>
                    <a:pt x="6169291" y="762203"/>
                  </a:lnTo>
                  <a:lnTo>
                    <a:pt x="6167660" y="712277"/>
                  </a:lnTo>
                  <a:lnTo>
                    <a:pt x="6165671" y="662441"/>
                  </a:lnTo>
                  <a:lnTo>
                    <a:pt x="6163325" y="612695"/>
                  </a:lnTo>
                  <a:lnTo>
                    <a:pt x="6160624" y="563041"/>
                  </a:lnTo>
                  <a:lnTo>
                    <a:pt x="6157568" y="513479"/>
                  </a:lnTo>
                  <a:lnTo>
                    <a:pt x="6154158" y="464010"/>
                  </a:lnTo>
                  <a:lnTo>
                    <a:pt x="6150398" y="414635"/>
                  </a:lnTo>
                  <a:lnTo>
                    <a:pt x="6146287" y="365354"/>
                  </a:lnTo>
                  <a:lnTo>
                    <a:pt x="6141827" y="316169"/>
                  </a:lnTo>
                  <a:lnTo>
                    <a:pt x="6137021" y="267080"/>
                  </a:lnTo>
                  <a:lnTo>
                    <a:pt x="6103112" y="0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4" name="Google Shape;5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9525"/>
              <a:ext cx="6019799" cy="68389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5" name="Google Shape;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4675" y="209550"/>
            <a:ext cx="49911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 txBox="1"/>
          <p:nvPr>
            <p:ph type="title"/>
          </p:nvPr>
        </p:nvSpPr>
        <p:spPr>
          <a:xfrm>
            <a:off x="6413725" y="994875"/>
            <a:ext cx="55020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marR="5080" rtl="0" algn="l">
              <a:lnSpc>
                <a:spcPct val="1151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50"/>
              <a:t>Evaluación</a:t>
            </a:r>
            <a:r>
              <a:rPr lang="en-US" sz="3950"/>
              <a:t> Transversal</a:t>
            </a:r>
            <a:endParaRPr sz="3950"/>
          </a:p>
          <a:p>
            <a:pPr indent="0" lvl="0" marL="0" marR="8890" rtl="0" algn="ctr">
              <a:lnSpc>
                <a:spcPct val="1151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50"/>
          </a:p>
        </p:txBody>
      </p:sp>
      <p:sp>
        <p:nvSpPr>
          <p:cNvPr id="57" name="Google Shape;57;p7"/>
          <p:cNvSpPr txBox="1"/>
          <p:nvPr/>
        </p:nvSpPr>
        <p:spPr>
          <a:xfrm>
            <a:off x="6413725" y="2047800"/>
            <a:ext cx="5729700" cy="45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Ingeniería</a:t>
            </a:r>
            <a:r>
              <a:rPr lang="en-US" sz="3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Software</a:t>
            </a:r>
            <a:endParaRPr sz="3950">
              <a:latin typeface="Calibri"/>
              <a:ea typeface="Calibri"/>
              <a:cs typeface="Calibri"/>
              <a:sym typeface="Calibri"/>
            </a:endParaRPr>
          </a:p>
          <a:p>
            <a:pPr indent="0" lvl="0" marL="622300" marR="5080" rtl="0" algn="l">
              <a:lnSpc>
                <a:spcPct val="90000"/>
              </a:lnSpc>
              <a:spcBef>
                <a:spcPts val="443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Sección: 006D</a:t>
            </a:r>
            <a:b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ocente: 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ELIANA 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MALLÉN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GONZALEZ GONZALEZ</a:t>
            </a:r>
            <a:b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Grupo Nº: 4</a:t>
            </a:r>
            <a:b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Integrantes:</a:t>
            </a:r>
            <a:b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BRANDON JOSEPH GOMEZ VALERIA</a:t>
            </a:r>
            <a:br>
              <a:rPr b="1" i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IGNACIO EZEQUIEL CARDENAS  MARTINEZ</a:t>
            </a:r>
            <a:endParaRPr b="1" i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00050" lvl="0" marL="622300" marR="5080" rtl="0" algn="r">
              <a:lnSpc>
                <a:spcPct val="90000"/>
              </a:lnSpc>
              <a:spcBef>
                <a:spcPts val="4435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Metodologia RUP</a:t>
            </a:r>
            <a:endParaRPr/>
          </a:p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130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340374" y="2593636"/>
            <a:ext cx="64998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/>
              <a:t>Para el desarrollo del proyecto se utilizó la metodología RUP (Rational Unified Process), la cual permitió organizar las distintas etapas del desarrollo y la elaboración de los entregables del proyecto.</a:t>
            </a:r>
            <a:endParaRPr sz="2000"/>
          </a:p>
        </p:txBody>
      </p:sp>
      <p:sp>
        <p:nvSpPr>
          <p:cNvPr id="65" name="Google Shape;65;p8"/>
          <p:cNvSpPr txBox="1"/>
          <p:nvPr/>
        </p:nvSpPr>
        <p:spPr>
          <a:xfrm>
            <a:off x="340350" y="2039536"/>
            <a:ext cx="421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Metodología</a:t>
            </a:r>
            <a:r>
              <a:rPr b="1" lang="en-US" sz="2400"/>
              <a:t> de Desarrollo</a:t>
            </a:r>
            <a:endParaRPr b="1" sz="2400"/>
          </a:p>
        </p:txBody>
      </p:sp>
      <p:pic>
        <p:nvPicPr>
          <p:cNvPr id="66" name="Google Shape;6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2455" y="1600270"/>
            <a:ext cx="4714875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>
            <p:ph type="title"/>
          </p:nvPr>
        </p:nvSpPr>
        <p:spPr>
          <a:xfrm>
            <a:off x="340359" y="101282"/>
            <a:ext cx="7566025" cy="716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Equipo de trabajo</a:t>
            </a:r>
            <a:endParaRPr/>
          </a:p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130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/>
          <p:nvPr/>
        </p:nvSpPr>
        <p:spPr>
          <a:xfrm>
            <a:off x="429000" y="13237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Equipo de Trabajo </a:t>
            </a:r>
            <a:endParaRPr b="1" sz="2400"/>
          </a:p>
        </p:txBody>
      </p:sp>
      <p:sp>
        <p:nvSpPr>
          <p:cNvPr id="74" name="Google Shape;74;p9"/>
          <p:cNvSpPr txBox="1"/>
          <p:nvPr/>
        </p:nvSpPr>
        <p:spPr>
          <a:xfrm>
            <a:off x="524550" y="1993625"/>
            <a:ext cx="1103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El proyecto fue desarrollado por un equipo de trabajo compuesto por tres integrantes, donde cada uno cumplió un rol específico para apoyar el desarrollo, organización y validación del sistema UNILIB. </a:t>
            </a:r>
            <a:endParaRPr sz="2000"/>
          </a:p>
        </p:txBody>
      </p:sp>
      <p:graphicFrame>
        <p:nvGraphicFramePr>
          <p:cNvPr id="75" name="Google Shape;75;p9"/>
          <p:cNvGraphicFramePr/>
          <p:nvPr/>
        </p:nvGraphicFramePr>
        <p:xfrm>
          <a:off x="1339088" y="321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{80DD0838-1B84-403D-AD74-4DC291780C7A}</a:tableStyleId>
              </a:tblPr>
              <a:tblGrid>
                <a:gridCol w="3922675"/>
                <a:gridCol w="2207550"/>
                <a:gridCol w="3277375"/>
              </a:tblGrid>
              <a:tr h="452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Integrante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Funcion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452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Brandon Joseph Gomez Valeria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Jefe de Proyecto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Planificación y supervisión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Ignacio Ezequiel Cardenas Martinez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Desarrollador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Desarrollo e implementación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Requerimientos funcionales</a:t>
            </a:r>
            <a:endParaRPr/>
          </a:p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0"/>
          <p:cNvSpPr txBox="1"/>
          <p:nvPr/>
        </p:nvSpPr>
        <p:spPr>
          <a:xfrm>
            <a:off x="618450" y="1068575"/>
            <a:ext cx="109551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El sistema UNILIB cuenta con distintas funcionalidades orientadas a mejorar la gestión bibliotecaria y facilitar el acceso a la información por parte de los usuarios.  </a:t>
            </a:r>
            <a:r>
              <a:rPr lang="en-US" sz="2000"/>
              <a:t>Las principales funciones del sistema son: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Gestión de usuarios                                           - Registro de Préstamos y Devoluciones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Gestión de libros                                                - Reserva de Libros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Catálogo de biblioteca                                       - Reportes</a:t>
            </a:r>
            <a:endParaRPr sz="2000"/>
          </a:p>
        </p:txBody>
      </p:sp>
      <p:pic>
        <p:nvPicPr>
          <p:cNvPr id="83" name="Google Shape;83;p10" title="Untitled Diagram.drawio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475" y="3437350"/>
            <a:ext cx="8927048" cy="30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Requerimientos no funcionales</a:t>
            </a:r>
            <a:endParaRPr/>
          </a:p>
        </p:txBody>
      </p:sp>
      <p:sp>
        <p:nvSpPr>
          <p:cNvPr id="89" name="Google Shape;89;p11"/>
          <p:cNvSpPr txBox="1"/>
          <p:nvPr/>
        </p:nvSpPr>
        <p:spPr>
          <a:xfrm>
            <a:off x="1019175" y="1607300"/>
            <a:ext cx="10223100" cy="15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Durante el desarrollo del sistema se consideraron distintos standards de calidad relacionados con la usabilidad, accesibilidad y rendimiento del software.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El objetivo fue diseñar una plataforma simple, organizada y fácil de utilizar para los distintos tipos de usuarios del sistema.</a:t>
            </a:r>
            <a:endParaRPr sz="2000"/>
          </a:p>
        </p:txBody>
      </p:sp>
      <p:sp>
        <p:nvSpPr>
          <p:cNvPr id="90" name="Google Shape;90;p11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1"/>
          <p:cNvSpPr txBox="1"/>
          <p:nvPr/>
        </p:nvSpPr>
        <p:spPr>
          <a:xfrm>
            <a:off x="910513" y="4029025"/>
            <a:ext cx="6425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Interfaz intuitiva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Navegación simple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Acceso seguro mediante credenciales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Organización clara de la información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Compatibilidad con distintos usuarios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Buen rendimiento del sistema</a:t>
            </a:r>
            <a:endParaRPr sz="2000"/>
          </a:p>
        </p:txBody>
      </p:sp>
      <p:sp>
        <p:nvSpPr>
          <p:cNvPr id="92" name="Google Shape;92;p11"/>
          <p:cNvSpPr txBox="1"/>
          <p:nvPr/>
        </p:nvSpPr>
        <p:spPr>
          <a:xfrm>
            <a:off x="547675" y="3474925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Requisitos No Funcionales:</a:t>
            </a:r>
            <a:endParaRPr b="1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/>
        </p:nvSpPr>
        <p:spPr>
          <a:xfrm>
            <a:off x="779722" y="385375"/>
            <a:ext cx="3869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4+1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2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</a:t>
            </a:r>
            <a:endParaRPr/>
          </a:p>
        </p:txBody>
      </p:sp>
      <p:pic>
        <p:nvPicPr>
          <p:cNvPr id="99" name="Google Shape;99;p12" title="Untitled Diagram.drawio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9750" y="2033124"/>
            <a:ext cx="4497625" cy="261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 txBox="1"/>
          <p:nvPr/>
        </p:nvSpPr>
        <p:spPr>
          <a:xfrm>
            <a:off x="602550" y="1164275"/>
            <a:ext cx="109869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Para representar la arquitectura del sistema UNILIB se utilizó el modelo 4+1, el cual permite analizar el sistema desde distintas perspectivas y comprender mejor su estructura, funcionamiento y organización.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/>
              <a:t>Este modelo considera escenariosy las cuatro vistas</a:t>
            </a:r>
            <a:br>
              <a:rPr lang="en-US" sz="2000"/>
            </a:br>
            <a:r>
              <a:rPr lang="en-US" sz="2000"/>
              <a:t>principales:</a:t>
            </a:r>
            <a:endParaRPr sz="2000"/>
          </a:p>
        </p:txBody>
      </p:sp>
      <p:graphicFrame>
        <p:nvGraphicFramePr>
          <p:cNvPr id="101" name="Google Shape;101;p12"/>
          <p:cNvGraphicFramePr/>
          <p:nvPr/>
        </p:nvGraphicFramePr>
        <p:xfrm>
          <a:off x="602550" y="3408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{80DD0838-1B84-403D-AD74-4DC291780C7A}</a:tableStyleId>
              </a:tblPr>
              <a:tblGrid>
                <a:gridCol w="1582475"/>
                <a:gridCol w="47474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</a:rPr>
                        <a:t>Escenarios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Representa los casos de uso principales del sistema.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</a:rPr>
                        <a:t>Lógica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Muestra la estructura y organización de las clases del sistema.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</a:rPr>
                        <a:t>Desarrollo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Representa la organización de módulos y componentes.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</a:rPr>
                        <a:t>Procesos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Muestra la interacción entre los procesos del sistema.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</a:rPr>
                        <a:t>Física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Representa la distribución del sistema en la infraestructura.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type="title"/>
          </p:nvPr>
        </p:nvSpPr>
        <p:spPr>
          <a:xfrm>
            <a:off x="675284" y="356457"/>
            <a:ext cx="7566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Chequeo de calidad</a:t>
            </a:r>
            <a:endParaRPr/>
          </a:p>
        </p:txBody>
      </p:sp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483900" y="1615500"/>
            <a:ext cx="10391400" cy="498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700"/>
              <a:t>Para evaluar la calidad del sistema UNILIB se utilizaron como referencia la norma ISO/IEC 25010.</a:t>
            </a:r>
            <a:endParaRPr b="0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700"/>
              <a:t>Se consideraron los siguientes criterios:</a:t>
            </a:r>
            <a:endParaRPr b="0" sz="17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1700"/>
              <a:t>Usabilidad.</a:t>
            </a:r>
            <a:endParaRPr sz="17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1700"/>
              <a:t>Accesibilidad.</a:t>
            </a:r>
            <a:endParaRPr sz="17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1700"/>
              <a:t>Mantenibilidad.</a:t>
            </a:r>
            <a:endParaRPr sz="17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1700"/>
              <a:t>Confiabilidad.</a:t>
            </a:r>
            <a:endParaRPr sz="17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1700"/>
              <a:t>Eficiencia.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700"/>
              <a:t>También se utilizaron un checklist de revisión para verificar:</a:t>
            </a:r>
            <a:endParaRPr b="0" sz="17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1700"/>
              <a:t>Correcta elaboración de diagramas UML.</a:t>
            </a:r>
            <a:endParaRPr sz="17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1700"/>
              <a:t>Relación entre requerimientos y diseño.</a:t>
            </a:r>
            <a:endParaRPr sz="17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1700"/>
              <a:t>Coherencia del modelo 4+1.</a:t>
            </a:r>
            <a:endParaRPr sz="17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1700"/>
              <a:t>Claridad de interfaces y prototipos.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pic>
        <p:nvPicPr>
          <p:cNvPr id="108" name="Google Shape;10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56542">
            <a:off x="6960484" y="2760685"/>
            <a:ext cx="3474232" cy="3474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ctrTitle"/>
          </p:nvPr>
        </p:nvSpPr>
        <p:spPr>
          <a:xfrm>
            <a:off x="684025" y="334950"/>
            <a:ext cx="67146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Caso de Prueba</a:t>
            </a:r>
            <a:endParaRPr/>
          </a:p>
        </p:txBody>
      </p:sp>
      <p:sp>
        <p:nvSpPr>
          <p:cNvPr id="114" name="Google Shape;114;p14"/>
          <p:cNvSpPr txBox="1"/>
          <p:nvPr>
            <p:ph idx="1" type="subTitle"/>
          </p:nvPr>
        </p:nvSpPr>
        <p:spPr>
          <a:xfrm>
            <a:off x="584800" y="1320550"/>
            <a:ext cx="10832700" cy="23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0"/>
              <a:t>Se definieron 10 casos de prueba para verificar las principales funcionalidades propuestas del sistema UNILIB. Los casos de prueba </a:t>
            </a:r>
            <a:r>
              <a:rPr b="0" lang="en-US" sz="2150"/>
              <a:t>permite</a:t>
            </a:r>
            <a:r>
              <a:rPr b="0" lang="en-US" sz="2150"/>
              <a:t> comprobar que los requerimientos del sistema respondan al comportamiento esperado.</a:t>
            </a:r>
            <a:endParaRPr b="0" sz="21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0"/>
              <a:t>Lo ordenamos en una tabla:</a:t>
            </a:r>
            <a:endParaRPr b="0" sz="21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50"/>
          </a:p>
        </p:txBody>
      </p:sp>
      <p:graphicFrame>
        <p:nvGraphicFramePr>
          <p:cNvPr id="115" name="Google Shape;115;p14"/>
          <p:cNvGraphicFramePr/>
          <p:nvPr/>
        </p:nvGraphicFramePr>
        <p:xfrm>
          <a:off x="1610850" y="295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{80DD0838-1B84-403D-AD74-4DC291780C7A}</a:tableStyleId>
              </a:tblPr>
              <a:tblGrid>
                <a:gridCol w="1766550"/>
                <a:gridCol w="2455500"/>
                <a:gridCol w="42574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Caso</a:t>
                      </a:r>
                      <a:endParaRPr b="1"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Funcionalidad</a:t>
                      </a:r>
                      <a:endParaRPr b="1"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Estado</a:t>
                      </a:r>
                      <a:endParaRPr b="1"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CP-01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Inicio de sesión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Definido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CP-02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Registro de usuarios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Definido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CP-03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Gestión de usuarios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Definido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CP-04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Gestión de libros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Definido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CP-05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Búsqueda de libros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Definido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CP-06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Préstamos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Definido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CP-07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Devoluciones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Definido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CP-08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Reservas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Definido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CP-09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Reportes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Definido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CP-10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Modificación de usuarios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Definido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type="ctrTitle"/>
          </p:nvPr>
        </p:nvSpPr>
        <p:spPr>
          <a:xfrm>
            <a:off x="684025" y="334950"/>
            <a:ext cx="67146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LA EJECUCIÓN de los Casos de Prueba</a:t>
            </a:r>
            <a:endParaRPr/>
          </a:p>
        </p:txBody>
      </p:sp>
      <p:sp>
        <p:nvSpPr>
          <p:cNvPr id="121" name="Google Shape;121;p15"/>
          <p:cNvSpPr txBox="1"/>
          <p:nvPr>
            <p:ph idx="1" type="subTitle"/>
          </p:nvPr>
        </p:nvSpPr>
        <p:spPr>
          <a:xfrm>
            <a:off x="584800" y="1224857"/>
            <a:ext cx="10832700" cy="13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0"/>
              <a:t>Como ejemplo, se utilizó el caso de prueba CP-01 (Inicio de sesión) para mostrar cómo se realizó la validación del sistema mediante Zephyr.</a:t>
            </a:r>
            <a:endParaRPr b="0" sz="21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0"/>
              <a:t>Estos fueron los resultados:</a:t>
            </a:r>
            <a:endParaRPr b="0" sz="2150"/>
          </a:p>
        </p:txBody>
      </p:sp>
      <p:graphicFrame>
        <p:nvGraphicFramePr>
          <p:cNvPr id="122" name="Google Shape;122;p15"/>
          <p:cNvGraphicFramePr/>
          <p:nvPr/>
        </p:nvGraphicFramePr>
        <p:xfrm>
          <a:off x="2624475" y="29434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{80DD0838-1B84-403D-AD74-4DC291780C7A}</a:tableStyleId>
              </a:tblPr>
              <a:tblGrid>
                <a:gridCol w="2620800"/>
                <a:gridCol w="36429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Campo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Resultado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Caso de prueba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CP-01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Funcionalidad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Inicio de sesión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Datos de entrada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Usuario y contraseña válidos</a:t>
                      </a:r>
                      <a:endParaRPr sz="18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Resultado esperado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Acceso al sistema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Resultado obtenido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Acceso correcto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Estado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Aprobado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>
            <p:ph type="ctrTitle"/>
          </p:nvPr>
        </p:nvSpPr>
        <p:spPr>
          <a:xfrm>
            <a:off x="891349" y="334950"/>
            <a:ext cx="57192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Prototipo</a:t>
            </a:r>
            <a:endParaRPr/>
          </a:p>
        </p:txBody>
      </p:sp>
      <p:sp>
        <p:nvSpPr>
          <p:cNvPr id="128" name="Google Shape;128;p16"/>
          <p:cNvSpPr txBox="1"/>
          <p:nvPr>
            <p:ph idx="1" type="subTitle"/>
          </p:nvPr>
        </p:nvSpPr>
        <p:spPr>
          <a:xfrm>
            <a:off x="1828800" y="3231247"/>
            <a:ext cx="8534400" cy="5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50"/>
              <a:t>A </a:t>
            </a:r>
            <a:r>
              <a:rPr lang="en-US" sz="3350"/>
              <a:t>continuación</a:t>
            </a:r>
            <a:r>
              <a:rPr lang="en-US" sz="3350"/>
              <a:t> se le </a:t>
            </a:r>
            <a:r>
              <a:rPr lang="en-US" sz="3350"/>
              <a:t>mostrará</a:t>
            </a:r>
            <a:r>
              <a:rPr lang="en-US" sz="3350"/>
              <a:t> el prototipo</a:t>
            </a:r>
            <a:endParaRPr sz="3350"/>
          </a:p>
        </p:txBody>
      </p:sp>
      <p:sp>
        <p:nvSpPr>
          <p:cNvPr id="129" name="Google Shape;129;p16"/>
          <p:cNvSpPr txBox="1"/>
          <p:nvPr/>
        </p:nvSpPr>
        <p:spPr>
          <a:xfrm>
            <a:off x="2476500" y="6181550"/>
            <a:ext cx="723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009FDE"/>
                </a:solidFill>
              </a:rPr>
              <a:t>https://app.moqups.com/V0nrZULK45aUaDnHL1qHI6WJFpZ9kzJ7/view/page/afbf8e48f</a:t>
            </a:r>
            <a:endParaRPr u="sng">
              <a:solidFill>
                <a:srgbClr val="009FD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8848793" y="5766322"/>
            <a:ext cx="30735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Conclusión</a:t>
            </a:r>
            <a:endParaRPr sz="5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0" y="0"/>
            <a:ext cx="4171950" cy="6858000"/>
          </a:xfrm>
          <a:custGeom>
            <a:rect b="b" l="l" r="r" t="t"/>
            <a:pathLst>
              <a:path extrusionOk="0" h="6858000" w="4171950">
                <a:moveTo>
                  <a:pt x="2262124" y="0"/>
                </a:moveTo>
                <a:lnTo>
                  <a:pt x="0" y="0"/>
                </a:lnTo>
                <a:lnTo>
                  <a:pt x="0" y="6857999"/>
                </a:lnTo>
                <a:lnTo>
                  <a:pt x="2262124" y="6857999"/>
                </a:lnTo>
                <a:lnTo>
                  <a:pt x="2390521" y="6775778"/>
                </a:lnTo>
                <a:lnTo>
                  <a:pt x="2430159" y="6748686"/>
                </a:lnTo>
                <a:lnTo>
                  <a:pt x="2469457" y="6721137"/>
                </a:lnTo>
                <a:lnTo>
                  <a:pt x="2508411" y="6693136"/>
                </a:lnTo>
                <a:lnTo>
                  <a:pt x="2547016" y="6664686"/>
                </a:lnTo>
                <a:lnTo>
                  <a:pt x="2585269" y="6635792"/>
                </a:lnTo>
                <a:lnTo>
                  <a:pt x="2623167" y="6606457"/>
                </a:lnTo>
                <a:lnTo>
                  <a:pt x="2660705" y="6576685"/>
                </a:lnTo>
                <a:lnTo>
                  <a:pt x="2697880" y="6546479"/>
                </a:lnTo>
                <a:lnTo>
                  <a:pt x="2734687" y="6515844"/>
                </a:lnTo>
                <a:lnTo>
                  <a:pt x="2771123" y="6484784"/>
                </a:lnTo>
                <a:lnTo>
                  <a:pt x="2807185" y="6453301"/>
                </a:lnTo>
                <a:lnTo>
                  <a:pt x="2842867" y="6421401"/>
                </a:lnTo>
                <a:lnTo>
                  <a:pt x="2878168" y="6389086"/>
                </a:lnTo>
                <a:lnTo>
                  <a:pt x="2913081" y="6356362"/>
                </a:lnTo>
                <a:lnTo>
                  <a:pt x="2947605" y="6323230"/>
                </a:lnTo>
                <a:lnTo>
                  <a:pt x="2981734" y="6289696"/>
                </a:lnTo>
                <a:lnTo>
                  <a:pt x="3015466" y="6255763"/>
                </a:lnTo>
                <a:lnTo>
                  <a:pt x="3048796" y="6221435"/>
                </a:lnTo>
                <a:lnTo>
                  <a:pt x="3081721" y="6186716"/>
                </a:lnTo>
                <a:lnTo>
                  <a:pt x="3114236" y="6151609"/>
                </a:lnTo>
                <a:lnTo>
                  <a:pt x="3146338" y="6116118"/>
                </a:lnTo>
                <a:lnTo>
                  <a:pt x="3178023" y="6080248"/>
                </a:lnTo>
                <a:lnTo>
                  <a:pt x="3209288" y="6044002"/>
                </a:lnTo>
                <a:lnTo>
                  <a:pt x="3240128" y="6007384"/>
                </a:lnTo>
                <a:lnTo>
                  <a:pt x="3270539" y="5970397"/>
                </a:lnTo>
                <a:lnTo>
                  <a:pt x="3300519" y="5933046"/>
                </a:lnTo>
                <a:lnTo>
                  <a:pt x="3330062" y="5895333"/>
                </a:lnTo>
                <a:lnTo>
                  <a:pt x="3359165" y="5857265"/>
                </a:lnTo>
                <a:lnTo>
                  <a:pt x="3387825" y="5818842"/>
                </a:lnTo>
                <a:lnTo>
                  <a:pt x="3416037" y="5780071"/>
                </a:lnTo>
                <a:lnTo>
                  <a:pt x="3443798" y="5740954"/>
                </a:lnTo>
                <a:lnTo>
                  <a:pt x="3471104" y="5701496"/>
                </a:lnTo>
                <a:lnTo>
                  <a:pt x="3497950" y="5661700"/>
                </a:lnTo>
                <a:lnTo>
                  <a:pt x="3524334" y="5621569"/>
                </a:lnTo>
                <a:lnTo>
                  <a:pt x="3550252" y="5581109"/>
                </a:lnTo>
                <a:lnTo>
                  <a:pt x="3575698" y="5540322"/>
                </a:lnTo>
                <a:lnTo>
                  <a:pt x="3600671" y="5499213"/>
                </a:lnTo>
                <a:lnTo>
                  <a:pt x="3625166" y="5457784"/>
                </a:lnTo>
                <a:lnTo>
                  <a:pt x="3649178" y="5416041"/>
                </a:lnTo>
                <a:lnTo>
                  <a:pt x="3672705" y="5373987"/>
                </a:lnTo>
                <a:lnTo>
                  <a:pt x="3695743" y="5331626"/>
                </a:lnTo>
                <a:lnTo>
                  <a:pt x="3718287" y="5288961"/>
                </a:lnTo>
                <a:lnTo>
                  <a:pt x="3740334" y="5245996"/>
                </a:lnTo>
                <a:lnTo>
                  <a:pt x="3761879" y="5202736"/>
                </a:lnTo>
                <a:lnTo>
                  <a:pt x="3782920" y="5159183"/>
                </a:lnTo>
                <a:lnTo>
                  <a:pt x="3803453" y="5115342"/>
                </a:lnTo>
                <a:lnTo>
                  <a:pt x="3823473" y="5071217"/>
                </a:lnTo>
                <a:lnTo>
                  <a:pt x="3842976" y="5026811"/>
                </a:lnTo>
                <a:lnTo>
                  <a:pt x="3861960" y="4982129"/>
                </a:lnTo>
                <a:lnTo>
                  <a:pt x="3880420" y="4937174"/>
                </a:lnTo>
                <a:lnTo>
                  <a:pt x="3898351" y="4891949"/>
                </a:lnTo>
                <a:lnTo>
                  <a:pt x="3915752" y="4846459"/>
                </a:lnTo>
                <a:lnTo>
                  <a:pt x="3932617" y="4800708"/>
                </a:lnTo>
                <a:lnTo>
                  <a:pt x="3948942" y="4754699"/>
                </a:lnTo>
                <a:lnTo>
                  <a:pt x="3964725" y="4708436"/>
                </a:lnTo>
                <a:lnTo>
                  <a:pt x="3979961" y="4661923"/>
                </a:lnTo>
                <a:lnTo>
                  <a:pt x="3994646" y="4615164"/>
                </a:lnTo>
                <a:lnTo>
                  <a:pt x="4008776" y="4568162"/>
                </a:lnTo>
                <a:lnTo>
                  <a:pt x="4022349" y="4520922"/>
                </a:lnTo>
                <a:lnTo>
                  <a:pt x="4035359" y="4473447"/>
                </a:lnTo>
                <a:lnTo>
                  <a:pt x="4047803" y="4425741"/>
                </a:lnTo>
                <a:lnTo>
                  <a:pt x="4059677" y="4377808"/>
                </a:lnTo>
                <a:lnTo>
                  <a:pt x="4070978" y="4329652"/>
                </a:lnTo>
                <a:lnTo>
                  <a:pt x="4081701" y="4281276"/>
                </a:lnTo>
                <a:lnTo>
                  <a:pt x="4091844" y="4232684"/>
                </a:lnTo>
                <a:lnTo>
                  <a:pt x="4101401" y="4183881"/>
                </a:lnTo>
                <a:lnTo>
                  <a:pt x="4110369" y="4134870"/>
                </a:lnTo>
                <a:lnTo>
                  <a:pt x="4118744" y="4085654"/>
                </a:lnTo>
                <a:lnTo>
                  <a:pt x="4126523" y="4036238"/>
                </a:lnTo>
                <a:lnTo>
                  <a:pt x="4133702" y="3986625"/>
                </a:lnTo>
                <a:lnTo>
                  <a:pt x="4140276" y="3936819"/>
                </a:lnTo>
                <a:lnTo>
                  <a:pt x="4146242" y="3886825"/>
                </a:lnTo>
                <a:lnTo>
                  <a:pt x="4151597" y="3836645"/>
                </a:lnTo>
                <a:lnTo>
                  <a:pt x="4156336" y="3786284"/>
                </a:lnTo>
                <a:lnTo>
                  <a:pt x="4160455" y="3735745"/>
                </a:lnTo>
                <a:lnTo>
                  <a:pt x="4163952" y="3685033"/>
                </a:lnTo>
                <a:lnTo>
                  <a:pt x="4166821" y="3634151"/>
                </a:lnTo>
                <a:lnTo>
                  <a:pt x="4169059" y="3583103"/>
                </a:lnTo>
                <a:lnTo>
                  <a:pt x="4170662" y="3531892"/>
                </a:lnTo>
                <a:lnTo>
                  <a:pt x="4171627" y="3480523"/>
                </a:lnTo>
                <a:lnTo>
                  <a:pt x="4171950" y="3429000"/>
                </a:lnTo>
                <a:lnTo>
                  <a:pt x="4171627" y="3377476"/>
                </a:lnTo>
                <a:lnTo>
                  <a:pt x="4170662" y="3326107"/>
                </a:lnTo>
                <a:lnTo>
                  <a:pt x="4169059" y="3274897"/>
                </a:lnTo>
                <a:lnTo>
                  <a:pt x="4166821" y="3223849"/>
                </a:lnTo>
                <a:lnTo>
                  <a:pt x="4163952" y="3172967"/>
                </a:lnTo>
                <a:lnTo>
                  <a:pt x="4160455" y="3122255"/>
                </a:lnTo>
                <a:lnTo>
                  <a:pt x="4156336" y="3071716"/>
                </a:lnTo>
                <a:lnTo>
                  <a:pt x="4151597" y="3021356"/>
                </a:lnTo>
                <a:lnTo>
                  <a:pt x="4146242" y="2971176"/>
                </a:lnTo>
                <a:lnTo>
                  <a:pt x="4140276" y="2921182"/>
                </a:lnTo>
                <a:lnTo>
                  <a:pt x="4133702" y="2871377"/>
                </a:lnTo>
                <a:lnTo>
                  <a:pt x="4126523" y="2821765"/>
                </a:lnTo>
                <a:lnTo>
                  <a:pt x="4118744" y="2772349"/>
                </a:lnTo>
                <a:lnTo>
                  <a:pt x="4110369" y="2723134"/>
                </a:lnTo>
                <a:lnTo>
                  <a:pt x="4101401" y="2674123"/>
                </a:lnTo>
                <a:lnTo>
                  <a:pt x="4091844" y="2625320"/>
                </a:lnTo>
                <a:lnTo>
                  <a:pt x="4081701" y="2576729"/>
                </a:lnTo>
                <a:lnTo>
                  <a:pt x="4070978" y="2528354"/>
                </a:lnTo>
                <a:lnTo>
                  <a:pt x="4059677" y="2480198"/>
                </a:lnTo>
                <a:lnTo>
                  <a:pt x="4047803" y="2432266"/>
                </a:lnTo>
                <a:lnTo>
                  <a:pt x="4035359" y="2384560"/>
                </a:lnTo>
                <a:lnTo>
                  <a:pt x="4022349" y="2337086"/>
                </a:lnTo>
                <a:lnTo>
                  <a:pt x="4008776" y="2289846"/>
                </a:lnTo>
                <a:lnTo>
                  <a:pt x="3994646" y="2242846"/>
                </a:lnTo>
                <a:lnTo>
                  <a:pt x="3979961" y="2196087"/>
                </a:lnTo>
                <a:lnTo>
                  <a:pt x="3964725" y="2149575"/>
                </a:lnTo>
                <a:lnTo>
                  <a:pt x="3948942" y="2103312"/>
                </a:lnTo>
                <a:lnTo>
                  <a:pt x="3932617" y="2057304"/>
                </a:lnTo>
                <a:lnTo>
                  <a:pt x="3915752" y="2011553"/>
                </a:lnTo>
                <a:lnTo>
                  <a:pt x="3898351" y="1966064"/>
                </a:lnTo>
                <a:lnTo>
                  <a:pt x="3880420" y="1920840"/>
                </a:lnTo>
                <a:lnTo>
                  <a:pt x="3861960" y="1875885"/>
                </a:lnTo>
                <a:lnTo>
                  <a:pt x="3842976" y="1831203"/>
                </a:lnTo>
                <a:lnTo>
                  <a:pt x="3823473" y="1786797"/>
                </a:lnTo>
                <a:lnTo>
                  <a:pt x="3803453" y="1742673"/>
                </a:lnTo>
                <a:lnTo>
                  <a:pt x="3782920" y="1698832"/>
                </a:lnTo>
                <a:lnTo>
                  <a:pt x="3761879" y="1655280"/>
                </a:lnTo>
                <a:lnTo>
                  <a:pt x="3740334" y="1612020"/>
                </a:lnTo>
                <a:lnTo>
                  <a:pt x="3718287" y="1569055"/>
                </a:lnTo>
                <a:lnTo>
                  <a:pt x="3695743" y="1526391"/>
                </a:lnTo>
                <a:lnTo>
                  <a:pt x="3672705" y="1484029"/>
                </a:lnTo>
                <a:lnTo>
                  <a:pt x="3649178" y="1441975"/>
                </a:lnTo>
                <a:lnTo>
                  <a:pt x="3625166" y="1400232"/>
                </a:lnTo>
                <a:lnTo>
                  <a:pt x="3600671" y="1358804"/>
                </a:lnTo>
                <a:lnTo>
                  <a:pt x="3575698" y="1317694"/>
                </a:lnTo>
                <a:lnTo>
                  <a:pt x="3550252" y="1276907"/>
                </a:lnTo>
                <a:lnTo>
                  <a:pt x="3524334" y="1236446"/>
                </a:lnTo>
                <a:lnTo>
                  <a:pt x="3497950" y="1196316"/>
                </a:lnTo>
                <a:lnTo>
                  <a:pt x="3471104" y="1156519"/>
                </a:lnTo>
                <a:lnTo>
                  <a:pt x="3443798" y="1117060"/>
                </a:lnTo>
                <a:lnTo>
                  <a:pt x="3416037" y="1077943"/>
                </a:lnTo>
                <a:lnTo>
                  <a:pt x="3387825" y="1039171"/>
                </a:lnTo>
                <a:lnTo>
                  <a:pt x="3359165" y="1000748"/>
                </a:lnTo>
                <a:lnTo>
                  <a:pt x="3330062" y="962678"/>
                </a:lnTo>
                <a:lnTo>
                  <a:pt x="3300519" y="924965"/>
                </a:lnTo>
                <a:lnTo>
                  <a:pt x="3270539" y="887613"/>
                </a:lnTo>
                <a:lnTo>
                  <a:pt x="3240128" y="850625"/>
                </a:lnTo>
                <a:lnTo>
                  <a:pt x="3209288" y="814006"/>
                </a:lnTo>
                <a:lnTo>
                  <a:pt x="3178023" y="777758"/>
                </a:lnTo>
                <a:lnTo>
                  <a:pt x="3146338" y="741886"/>
                </a:lnTo>
                <a:lnTo>
                  <a:pt x="3114236" y="706395"/>
                </a:lnTo>
                <a:lnTo>
                  <a:pt x="3081721" y="671286"/>
                </a:lnTo>
                <a:lnTo>
                  <a:pt x="3048796" y="636565"/>
                </a:lnTo>
                <a:lnTo>
                  <a:pt x="3015466" y="602235"/>
                </a:lnTo>
                <a:lnTo>
                  <a:pt x="2981734" y="568300"/>
                </a:lnTo>
                <a:lnTo>
                  <a:pt x="2947605" y="534764"/>
                </a:lnTo>
                <a:lnTo>
                  <a:pt x="2913081" y="501631"/>
                </a:lnTo>
                <a:lnTo>
                  <a:pt x="2878168" y="468903"/>
                </a:lnTo>
                <a:lnTo>
                  <a:pt x="2842867" y="436586"/>
                </a:lnTo>
                <a:lnTo>
                  <a:pt x="2807185" y="404684"/>
                </a:lnTo>
                <a:lnTo>
                  <a:pt x="2771123" y="373198"/>
                </a:lnTo>
                <a:lnTo>
                  <a:pt x="2734687" y="342135"/>
                </a:lnTo>
                <a:lnTo>
                  <a:pt x="2697880" y="311497"/>
                </a:lnTo>
                <a:lnTo>
                  <a:pt x="2660705" y="281288"/>
                </a:lnTo>
                <a:lnTo>
                  <a:pt x="2623167" y="251513"/>
                </a:lnTo>
                <a:lnTo>
                  <a:pt x="2585269" y="222174"/>
                </a:lnTo>
                <a:lnTo>
                  <a:pt x="2547016" y="193276"/>
                </a:lnTo>
                <a:lnTo>
                  <a:pt x="2508411" y="164823"/>
                </a:lnTo>
                <a:lnTo>
                  <a:pt x="2469457" y="136818"/>
                </a:lnTo>
                <a:lnTo>
                  <a:pt x="2430159" y="109265"/>
                </a:lnTo>
                <a:lnTo>
                  <a:pt x="2390521" y="82169"/>
                </a:lnTo>
                <a:lnTo>
                  <a:pt x="2262124" y="0"/>
                </a:lnTo>
                <a:close/>
              </a:path>
            </a:pathLst>
          </a:custGeom>
          <a:solidFill>
            <a:srgbClr val="6F27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766127" y="3055238"/>
            <a:ext cx="28506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36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9596501" y="4500498"/>
            <a:ext cx="2038350" cy="2038984"/>
          </a:xfrm>
          <a:custGeom>
            <a:rect b="b" l="l" r="r" t="t"/>
            <a:pathLst>
              <a:path extrusionOk="0" h="2038984" w="2038350">
                <a:moveTo>
                  <a:pt x="0" y="2038413"/>
                </a:moveTo>
                <a:lnTo>
                  <a:pt x="48112" y="2037856"/>
                </a:lnTo>
                <a:lnTo>
                  <a:pt x="95952" y="2036194"/>
                </a:lnTo>
                <a:lnTo>
                  <a:pt x="143507" y="2033439"/>
                </a:lnTo>
                <a:lnTo>
                  <a:pt x="190763" y="2029604"/>
                </a:lnTo>
                <a:lnTo>
                  <a:pt x="237710" y="2024700"/>
                </a:lnTo>
                <a:lnTo>
                  <a:pt x="284335" y="2018739"/>
                </a:lnTo>
                <a:lnTo>
                  <a:pt x="330625" y="2011734"/>
                </a:lnTo>
                <a:lnTo>
                  <a:pt x="376569" y="2003698"/>
                </a:lnTo>
                <a:lnTo>
                  <a:pt x="422154" y="1994642"/>
                </a:lnTo>
                <a:lnTo>
                  <a:pt x="467368" y="1984579"/>
                </a:lnTo>
                <a:lnTo>
                  <a:pt x="512198" y="1973520"/>
                </a:lnTo>
                <a:lnTo>
                  <a:pt x="556633" y="1961479"/>
                </a:lnTo>
                <a:lnTo>
                  <a:pt x="600660" y="1948467"/>
                </a:lnTo>
                <a:lnTo>
                  <a:pt x="644267" y="1934496"/>
                </a:lnTo>
                <a:lnTo>
                  <a:pt x="687442" y="1919580"/>
                </a:lnTo>
                <a:lnTo>
                  <a:pt x="730173" y="1903729"/>
                </a:lnTo>
                <a:lnTo>
                  <a:pt x="772446" y="1886957"/>
                </a:lnTo>
                <a:lnTo>
                  <a:pt x="814251" y="1869275"/>
                </a:lnTo>
                <a:lnTo>
                  <a:pt x="855575" y="1850696"/>
                </a:lnTo>
                <a:lnTo>
                  <a:pt x="896405" y="1831232"/>
                </a:lnTo>
                <a:lnTo>
                  <a:pt x="936729" y="1810895"/>
                </a:lnTo>
                <a:lnTo>
                  <a:pt x="976536" y="1789698"/>
                </a:lnTo>
                <a:lnTo>
                  <a:pt x="1015812" y="1767652"/>
                </a:lnTo>
                <a:lnTo>
                  <a:pt x="1054546" y="1744770"/>
                </a:lnTo>
                <a:lnTo>
                  <a:pt x="1092725" y="1721064"/>
                </a:lnTo>
                <a:lnTo>
                  <a:pt x="1130338" y="1696547"/>
                </a:lnTo>
                <a:lnTo>
                  <a:pt x="1167371" y="1671231"/>
                </a:lnTo>
                <a:lnTo>
                  <a:pt x="1203813" y="1645127"/>
                </a:lnTo>
                <a:lnTo>
                  <a:pt x="1239652" y="1618248"/>
                </a:lnTo>
                <a:lnTo>
                  <a:pt x="1274874" y="1590607"/>
                </a:lnTo>
                <a:lnTo>
                  <a:pt x="1309469" y="1562215"/>
                </a:lnTo>
                <a:lnTo>
                  <a:pt x="1343423" y="1533085"/>
                </a:lnTo>
                <a:lnTo>
                  <a:pt x="1376725" y="1503229"/>
                </a:lnTo>
                <a:lnTo>
                  <a:pt x="1409362" y="1472659"/>
                </a:lnTo>
                <a:lnTo>
                  <a:pt x="1441323" y="1441388"/>
                </a:lnTo>
                <a:lnTo>
                  <a:pt x="1472593" y="1409427"/>
                </a:lnTo>
                <a:lnTo>
                  <a:pt x="1503163" y="1376789"/>
                </a:lnTo>
                <a:lnTo>
                  <a:pt x="1533019" y="1343487"/>
                </a:lnTo>
                <a:lnTo>
                  <a:pt x="1562148" y="1309532"/>
                </a:lnTo>
                <a:lnTo>
                  <a:pt x="1590540" y="1274937"/>
                </a:lnTo>
                <a:lnTo>
                  <a:pt x="1618181" y="1239713"/>
                </a:lnTo>
                <a:lnTo>
                  <a:pt x="1645060" y="1203874"/>
                </a:lnTo>
                <a:lnTo>
                  <a:pt x="1671164" y="1167431"/>
                </a:lnTo>
                <a:lnTo>
                  <a:pt x="1696480" y="1130397"/>
                </a:lnTo>
                <a:lnTo>
                  <a:pt x="1720998" y="1092783"/>
                </a:lnTo>
                <a:lnTo>
                  <a:pt x="1744703" y="1054603"/>
                </a:lnTo>
                <a:lnTo>
                  <a:pt x="1767585" y="1015868"/>
                </a:lnTo>
                <a:lnTo>
                  <a:pt x="1789631" y="976590"/>
                </a:lnTo>
                <a:lnTo>
                  <a:pt x="1810828" y="936782"/>
                </a:lnTo>
                <a:lnTo>
                  <a:pt x="1831165" y="896456"/>
                </a:lnTo>
                <a:lnTo>
                  <a:pt x="1850630" y="855625"/>
                </a:lnTo>
                <a:lnTo>
                  <a:pt x="1869209" y="814299"/>
                </a:lnTo>
                <a:lnTo>
                  <a:pt x="1886891" y="772493"/>
                </a:lnTo>
                <a:lnTo>
                  <a:pt x="1903663" y="730217"/>
                </a:lnTo>
                <a:lnTo>
                  <a:pt x="1919514" y="687485"/>
                </a:lnTo>
                <a:lnTo>
                  <a:pt x="1934431" y="644308"/>
                </a:lnTo>
                <a:lnTo>
                  <a:pt x="1948402" y="600699"/>
                </a:lnTo>
                <a:lnTo>
                  <a:pt x="1961414" y="556669"/>
                </a:lnTo>
                <a:lnTo>
                  <a:pt x="1973455" y="512232"/>
                </a:lnTo>
                <a:lnTo>
                  <a:pt x="1984514" y="467399"/>
                </a:lnTo>
                <a:lnTo>
                  <a:pt x="1994578" y="422183"/>
                </a:lnTo>
                <a:lnTo>
                  <a:pt x="2003634" y="376595"/>
                </a:lnTo>
                <a:lnTo>
                  <a:pt x="2011670" y="330649"/>
                </a:lnTo>
                <a:lnTo>
                  <a:pt x="2018675" y="284355"/>
                </a:lnTo>
                <a:lnTo>
                  <a:pt x="2024636" y="237728"/>
                </a:lnTo>
                <a:lnTo>
                  <a:pt x="2029540" y="190777"/>
                </a:lnTo>
                <a:lnTo>
                  <a:pt x="2033376" y="143517"/>
                </a:lnTo>
                <a:lnTo>
                  <a:pt x="2036131" y="95960"/>
                </a:lnTo>
                <a:lnTo>
                  <a:pt x="2037793" y="48116"/>
                </a:lnTo>
                <a:lnTo>
                  <a:pt x="2038350" y="0"/>
                </a:lnTo>
              </a:path>
            </a:pathLst>
          </a:custGeom>
          <a:noFill/>
          <a:ln cap="flat" cmpd="sng" w="127000">
            <a:solidFill>
              <a:srgbClr val="009FD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4758309" y="351132"/>
            <a:ext cx="5820900" cy="3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80975" lvl="0" marL="241300" marR="1003935" rtl="0" algn="l">
              <a:lnSpc>
                <a:spcPct val="106666"/>
              </a:lnSpc>
              <a:spcBef>
                <a:spcPts val="1085"/>
              </a:spcBef>
              <a:spcAft>
                <a:spcPts val="0"/>
              </a:spcAft>
              <a:buClr>
                <a:srgbClr val="DE2F75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172740"/>
                </a:solidFill>
                <a:latin typeface="Arial"/>
                <a:ea typeface="Arial"/>
                <a:cs typeface="Arial"/>
                <a:sym typeface="Arial"/>
              </a:rPr>
              <a:t>Modelo de calidad , usabilidad , accesibilidad</a:t>
            </a:r>
            <a:endParaRPr b="1" sz="2000">
              <a:solidFill>
                <a:srgbClr val="1727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241300" marR="1003935" rtl="0" algn="l">
              <a:lnSpc>
                <a:spcPct val="106666"/>
              </a:lnSpc>
              <a:spcBef>
                <a:spcPts val="1085"/>
              </a:spcBef>
              <a:spcAft>
                <a:spcPts val="0"/>
              </a:spcAft>
              <a:buClr>
                <a:srgbClr val="172740"/>
              </a:buClr>
              <a:buSzPts val="2000"/>
              <a:buChar char="•"/>
            </a:pPr>
            <a:r>
              <a:rPr lang="en-US" sz="2000">
                <a:solidFill>
                  <a:srgbClr val="172740"/>
                </a:solidFill>
              </a:rPr>
              <a:t>Durante el desarrollo del proyecto se consideraron principios de calidad relacionados con usabilidad, accesibilidad y organización del sistema, buscando mejorar la experiencia de los usuarios y facilitar la utilización de la plataforma UNILIB. </a:t>
            </a:r>
            <a:endParaRPr sz="2000">
              <a:solidFill>
                <a:srgbClr val="17274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/>
        </p:nvSpPr>
        <p:spPr>
          <a:xfrm>
            <a:off x="11682730" y="6434454"/>
            <a:ext cx="21653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C7989"/>
                </a:solidFill>
                <a:latin typeface="Courier New"/>
                <a:ea typeface="Courier New"/>
                <a:cs typeface="Courier New"/>
                <a:sym typeface="Courier New"/>
              </a:rPr>
              <a:t>29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8" name="Google Shape;148;p19"/>
          <p:cNvSpPr txBox="1"/>
          <p:nvPr>
            <p:ph type="ctrTitle"/>
          </p:nvPr>
        </p:nvSpPr>
        <p:spPr>
          <a:xfrm>
            <a:off x="2432304" y="334962"/>
            <a:ext cx="4178300" cy="483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Retrospectiva del proyecto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522273" y="1272275"/>
            <a:ext cx="106881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Durante el desarrollo del proyecto se detectaron dificultades relacionadas con la organización de diagramas, distribución de tareas y comprensión del modelo 4+1.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Para solucionar estos problemas se reorganizó la documentación, se simplificaron algunos diagramas y se utilizaron herramientas como Draw.io,  Carta Gantt entre otros para mejorar la planificación y el trabajo en equipo.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title"/>
          </p:nvPr>
        </p:nvSpPr>
        <p:spPr>
          <a:xfrm>
            <a:off x="9167025" y="5792461"/>
            <a:ext cx="28269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Preguntas</a:t>
            </a:r>
            <a:endParaRPr sz="5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9867308" y="5840311"/>
            <a:ext cx="20556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Anexos</a:t>
            </a:r>
            <a:endParaRPr sz="5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340359" y="101282"/>
            <a:ext cx="7566025" cy="716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Requerimientos no funcionales</a:t>
            </a:r>
            <a:endParaRPr/>
          </a:p>
        </p:txBody>
      </p:sp>
      <p:sp>
        <p:nvSpPr>
          <p:cNvPr id="165" name="Google Shape;165;p22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6" name="Google Shape;16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388" y="1963925"/>
            <a:ext cx="7989225" cy="468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 txBox="1"/>
          <p:nvPr/>
        </p:nvSpPr>
        <p:spPr>
          <a:xfrm>
            <a:off x="697350" y="1388350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Mockup:</a:t>
            </a:r>
            <a:endParaRPr b="1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Requerimientos no funcionales</a:t>
            </a:r>
            <a:endParaRPr/>
          </a:p>
        </p:txBody>
      </p:sp>
      <p:sp>
        <p:nvSpPr>
          <p:cNvPr id="173" name="Google Shape;173;p23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23"/>
          <p:cNvSpPr txBox="1"/>
          <p:nvPr/>
        </p:nvSpPr>
        <p:spPr>
          <a:xfrm>
            <a:off x="697350" y="1388350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Mockup:</a:t>
            </a:r>
            <a:endParaRPr b="1" sz="2400"/>
          </a:p>
        </p:txBody>
      </p:sp>
      <p:pic>
        <p:nvPicPr>
          <p:cNvPr id="175" name="Google Shape;17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4225" y="1567875"/>
            <a:ext cx="6223550" cy="514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Requerimientos no funcionales</a:t>
            </a:r>
            <a:endParaRPr/>
          </a:p>
        </p:txBody>
      </p:sp>
      <p:sp>
        <p:nvSpPr>
          <p:cNvPr id="181" name="Google Shape;181;p24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24"/>
          <p:cNvSpPr txBox="1"/>
          <p:nvPr/>
        </p:nvSpPr>
        <p:spPr>
          <a:xfrm>
            <a:off x="697350" y="1388350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Mockup:</a:t>
            </a:r>
            <a:endParaRPr b="1" sz="2400"/>
          </a:p>
        </p:txBody>
      </p:sp>
      <p:pic>
        <p:nvPicPr>
          <p:cNvPr id="183" name="Google Shape;18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875" y="1154600"/>
            <a:ext cx="7208250" cy="590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Requerimientos no funcionales</a:t>
            </a:r>
            <a:endParaRPr/>
          </a:p>
        </p:txBody>
      </p:sp>
      <p:sp>
        <p:nvSpPr>
          <p:cNvPr id="189" name="Google Shape;189;p25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25"/>
          <p:cNvSpPr txBox="1"/>
          <p:nvPr/>
        </p:nvSpPr>
        <p:spPr>
          <a:xfrm>
            <a:off x="697350" y="1388350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Mockup:</a:t>
            </a:r>
            <a:endParaRPr b="1" sz="2400"/>
          </a:p>
        </p:txBody>
      </p:sp>
      <p:pic>
        <p:nvPicPr>
          <p:cNvPr id="191" name="Google Shape;19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538" y="1284750"/>
            <a:ext cx="6772926" cy="50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Requerimientos no funcionales</a:t>
            </a:r>
            <a:endParaRPr/>
          </a:p>
        </p:txBody>
      </p:sp>
      <p:sp>
        <p:nvSpPr>
          <p:cNvPr id="197" name="Google Shape;197;p26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697350" y="1388350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Mockup:</a:t>
            </a:r>
            <a:endParaRPr b="1" sz="2400"/>
          </a:p>
        </p:txBody>
      </p:sp>
      <p:pic>
        <p:nvPicPr>
          <p:cNvPr id="199" name="Google Shape;19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350" y="2088350"/>
            <a:ext cx="6936075" cy="433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9475" y="1073300"/>
            <a:ext cx="2962950" cy="535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27"/>
          <p:cNvGrpSpPr/>
          <p:nvPr/>
        </p:nvGrpSpPr>
        <p:grpSpPr>
          <a:xfrm>
            <a:off x="190500" y="209550"/>
            <a:ext cx="11706225" cy="819150"/>
            <a:chOff x="190500" y="209550"/>
            <a:chExt cx="11706225" cy="819150"/>
          </a:xfrm>
        </p:grpSpPr>
        <p:sp>
          <p:nvSpPr>
            <p:cNvPr id="206" name="Google Shape;206;p27"/>
            <p:cNvSpPr/>
            <p:nvPr/>
          </p:nvSpPr>
          <p:spPr>
            <a:xfrm>
              <a:off x="1828800" y="209550"/>
              <a:ext cx="6410325" cy="819150"/>
            </a:xfrm>
            <a:custGeom>
              <a:rect b="b" l="l" r="r" t="t"/>
              <a:pathLst>
                <a:path extrusionOk="0" h="819150" w="6410325">
                  <a:moveTo>
                    <a:pt x="6410325" y="0"/>
                  </a:moveTo>
                  <a:lnTo>
                    <a:pt x="371094" y="0"/>
                  </a:lnTo>
                  <a:lnTo>
                    <a:pt x="0" y="819150"/>
                  </a:lnTo>
                  <a:lnTo>
                    <a:pt x="6039231" y="819150"/>
                  </a:lnTo>
                  <a:lnTo>
                    <a:pt x="6410325" y="0"/>
                  </a:lnTo>
                  <a:close/>
                </a:path>
              </a:pathLst>
            </a:custGeom>
            <a:solidFill>
              <a:srgbClr val="81878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7"/>
            <p:cNvSpPr/>
            <p:nvPr/>
          </p:nvSpPr>
          <p:spPr>
            <a:xfrm>
              <a:off x="1028700" y="209550"/>
              <a:ext cx="1200150" cy="819150"/>
            </a:xfrm>
            <a:custGeom>
              <a:rect b="b" l="l" r="r" t="t"/>
              <a:pathLst>
                <a:path extrusionOk="0" h="819150" w="1200150">
                  <a:moveTo>
                    <a:pt x="1200150" y="0"/>
                  </a:moveTo>
                  <a:lnTo>
                    <a:pt x="371094" y="0"/>
                  </a:lnTo>
                  <a:lnTo>
                    <a:pt x="0" y="819150"/>
                  </a:lnTo>
                  <a:lnTo>
                    <a:pt x="829056" y="819150"/>
                  </a:lnTo>
                  <a:lnTo>
                    <a:pt x="1200150" y="0"/>
                  </a:lnTo>
                  <a:close/>
                </a:path>
              </a:pathLst>
            </a:custGeom>
            <a:solidFill>
              <a:srgbClr val="81889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8" name="Google Shape;208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0500" y="209550"/>
              <a:ext cx="1209675" cy="819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48650" y="400050"/>
              <a:ext cx="3648075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0" name="Google Shape;210;p27"/>
          <p:cNvSpPr txBox="1"/>
          <p:nvPr>
            <p:ph idx="12" type="sldNum"/>
          </p:nvPr>
        </p:nvSpPr>
        <p:spPr>
          <a:xfrm>
            <a:off x="11657330" y="6427162"/>
            <a:ext cx="279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35</a:t>
            </a:r>
            <a:endParaRPr/>
          </a:p>
        </p:txBody>
      </p:sp>
      <p:graphicFrame>
        <p:nvGraphicFramePr>
          <p:cNvPr id="211" name="Google Shape;211;p27"/>
          <p:cNvGraphicFramePr/>
          <p:nvPr/>
        </p:nvGraphicFramePr>
        <p:xfrm>
          <a:off x="2624450" y="110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{80DD0838-1B84-403D-AD74-4DC291780C7A}</a:tableStyleId>
              </a:tblPr>
              <a:tblGrid>
                <a:gridCol w="609600"/>
                <a:gridCol w="1704975"/>
                <a:gridCol w="3286125"/>
                <a:gridCol w="952500"/>
                <a:gridCol w="1428525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CODIGO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DESCRIPCION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TITULAR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Inicio de Sesión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Permite ingresar mediante credenciales institucionales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Todos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RF02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Usuarios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Permite administrar usuarios y permisos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Administrador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RF03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Libros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Permite agregar, editar y eliminar libros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Bibliotecario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RF04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Búsqueda de Libros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Permite buscar libros por filtros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Todos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RF05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Registro de Préstamos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Permite registrar préstamos de libros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Bibliotecario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RF06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Registro de Devoluciones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Permite registrar devoluciones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Bibliotecario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RF07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Reserva de Libros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Permite reservar libros no disponibles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Usuario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RF08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Historial de Usuario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Permite revisar préstamos anteriores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Usuario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RF09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Notificaciones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Envía avisos de vencimiento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Sistema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RF10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Reportes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 estadísticas e informes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Administrador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27"/>
          <p:cNvSpPr txBox="1"/>
          <p:nvPr>
            <p:ph idx="4294967295" type="title"/>
          </p:nvPr>
        </p:nvSpPr>
        <p:spPr>
          <a:xfrm>
            <a:off x="770984" y="404307"/>
            <a:ext cx="7566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anexos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title"/>
          </p:nvPr>
        </p:nvSpPr>
        <p:spPr>
          <a:xfrm>
            <a:off x="770984" y="404307"/>
            <a:ext cx="7566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anexos</a:t>
            </a:r>
            <a:endParaRPr/>
          </a:p>
        </p:txBody>
      </p:sp>
      <p:sp>
        <p:nvSpPr>
          <p:cNvPr id="218" name="Google Shape;218;p28"/>
          <p:cNvSpPr txBox="1"/>
          <p:nvPr>
            <p:ph idx="12" type="sldNum"/>
          </p:nvPr>
        </p:nvSpPr>
        <p:spPr>
          <a:xfrm>
            <a:off x="11657330" y="6427162"/>
            <a:ext cx="279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36</a:t>
            </a:r>
            <a:endParaRPr/>
          </a:p>
        </p:txBody>
      </p:sp>
      <p:graphicFrame>
        <p:nvGraphicFramePr>
          <p:cNvPr id="219" name="Google Shape;219;p28"/>
          <p:cNvGraphicFramePr/>
          <p:nvPr/>
        </p:nvGraphicFramePr>
        <p:xfrm>
          <a:off x="327850" y="1930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{B16CB4C7-E29E-4F59-8407-26B8EF2D2BBF}</a:tableStyleId>
              </a:tblPr>
              <a:tblGrid>
                <a:gridCol w="1600200"/>
                <a:gridCol w="1038225"/>
                <a:gridCol w="1238250"/>
                <a:gridCol w="904875"/>
              </a:tblGrid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 Profesional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Horas Estimadas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Valor Hora Hombre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Costo Total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Jefe de Proyecto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 horas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$7,000.00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$84,000.00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Desarrollador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 horas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$6,000.00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$90,000.00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Tester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horas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$5,000.00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$50,000.00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0" name="Google Shape;220;p28"/>
          <p:cNvSpPr txBox="1"/>
          <p:nvPr/>
        </p:nvSpPr>
        <p:spPr>
          <a:xfrm>
            <a:off x="327850" y="1396400"/>
            <a:ext cx="421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Costo total base esfuerzo hora hombre:</a:t>
            </a:r>
            <a:endParaRPr sz="1900"/>
          </a:p>
        </p:txBody>
      </p:sp>
      <p:graphicFrame>
        <p:nvGraphicFramePr>
          <p:cNvPr id="221" name="Google Shape;221;p28"/>
          <p:cNvGraphicFramePr/>
          <p:nvPr/>
        </p:nvGraphicFramePr>
        <p:xfrm>
          <a:off x="5225900" y="165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{B16CB4C7-E29E-4F59-8407-26B8EF2D2BBF}</a:tableStyleId>
              </a:tblPr>
              <a:tblGrid>
                <a:gridCol w="2314025"/>
                <a:gridCol w="3326300"/>
                <a:gridCol w="1071000"/>
              </a:tblGrid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Fase del Proyecto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Actividades Principales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Costo Estimado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Inicio y levantamiento de requisitos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del problema, análisis inicial y definición de objetivos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$50,000.00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Análisis del sistema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Desarrollo de requisitos funcionales y no funcionales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$60,000.00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Diseño UML y arquitectura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Elaboración de diagramas UML y arquitectura 4+1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$90,000.00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Planificación y control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Desarrollo de EDT/WBS, Carta Gantt y control de cambios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$32,000.00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Documentación y presentación final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Preparación del informe y exposición del proyecto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$30,000.00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2" name="Google Shape;222;p28"/>
          <p:cNvSpPr txBox="1"/>
          <p:nvPr/>
        </p:nvSpPr>
        <p:spPr>
          <a:xfrm>
            <a:off x="5528925" y="1134125"/>
            <a:ext cx="421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Costos por FASE:</a:t>
            </a:r>
            <a:endParaRPr sz="1900"/>
          </a:p>
        </p:txBody>
      </p:sp>
      <p:sp>
        <p:nvSpPr>
          <p:cNvPr id="223" name="Google Shape;223;p28"/>
          <p:cNvSpPr txBox="1"/>
          <p:nvPr/>
        </p:nvSpPr>
        <p:spPr>
          <a:xfrm>
            <a:off x="184525" y="945200"/>
            <a:ext cx="5068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165100" rtl="0" algn="just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1300">
                <a:solidFill>
                  <a:srgbClr val="4F81B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Costos del Desarrollo del Proyecto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" name="Google Shape;228;p29"/>
          <p:cNvGraphicFramePr/>
          <p:nvPr/>
        </p:nvGraphicFramePr>
        <p:xfrm>
          <a:off x="340350" y="206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{B16CB4C7-E29E-4F59-8407-26B8EF2D2BBF}</a:tableStyleId>
              </a:tblPr>
              <a:tblGrid>
                <a:gridCol w="1861300"/>
                <a:gridCol w="3311650"/>
                <a:gridCol w="8057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Actor o Rol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Función Principal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Costo Asociado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Jefe de Proyecto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Planificación general del proyecto, supervisión y seguimiento de actividades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$84,000.00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Desarrollador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Desarrollo, implementación y elaboración de diagramas y documentación técnica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$90,000.00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Tester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Realización de pruebas, validaciones y revisión del sistema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$50,000.00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" name="Google Shape;229;p29"/>
          <p:cNvSpPr txBox="1"/>
          <p:nvPr/>
        </p:nvSpPr>
        <p:spPr>
          <a:xfrm>
            <a:off x="340350" y="149210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Costos por Actor o Rol: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9"/>
          <p:cNvSpPr txBox="1"/>
          <p:nvPr>
            <p:ph type="title"/>
          </p:nvPr>
        </p:nvSpPr>
        <p:spPr>
          <a:xfrm>
            <a:off x="770984" y="404307"/>
            <a:ext cx="7566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anexos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/>
        </p:nvSpPr>
        <p:spPr>
          <a:xfrm>
            <a:off x="2432304" y="385381"/>
            <a:ext cx="2216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72740"/>
                </a:solidFill>
                <a:latin typeface="Calibri"/>
                <a:ea typeface="Calibri"/>
                <a:cs typeface="Calibri"/>
                <a:sym typeface="Calibri"/>
              </a:rPr>
              <a:t>diagramas de 4+1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0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</a:t>
            </a:r>
            <a:endParaRPr/>
          </a:p>
        </p:txBody>
      </p:sp>
      <p:pic>
        <p:nvPicPr>
          <p:cNvPr id="237" name="Google Shape;23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2287" y="1762575"/>
            <a:ext cx="6447425" cy="47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 txBox="1"/>
          <p:nvPr/>
        </p:nvSpPr>
        <p:spPr>
          <a:xfrm>
            <a:off x="569750" y="1077963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Diagrama caso de uso:</a:t>
            </a:r>
            <a:endParaRPr b="1"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/>
        </p:nvSpPr>
        <p:spPr>
          <a:xfrm>
            <a:off x="2432304" y="385381"/>
            <a:ext cx="2216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72740"/>
                </a:solidFill>
                <a:latin typeface="Calibri"/>
                <a:ea typeface="Calibri"/>
                <a:cs typeface="Calibri"/>
                <a:sym typeface="Calibri"/>
              </a:rPr>
              <a:t>diagramas de 4+1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1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</a:t>
            </a:r>
            <a:endParaRPr/>
          </a:p>
        </p:txBody>
      </p:sp>
      <p:sp>
        <p:nvSpPr>
          <p:cNvPr id="245" name="Google Shape;245;p31"/>
          <p:cNvSpPr txBox="1"/>
          <p:nvPr/>
        </p:nvSpPr>
        <p:spPr>
          <a:xfrm>
            <a:off x="569750" y="1077963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Diagrama caso de uso </a:t>
            </a:r>
            <a:r>
              <a:rPr b="1" lang="en-US" sz="2400"/>
              <a:t>específicos</a:t>
            </a:r>
            <a:r>
              <a:rPr b="1" lang="en-US" sz="2400"/>
              <a:t>:</a:t>
            </a:r>
            <a:endParaRPr b="1" sz="2400"/>
          </a:p>
        </p:txBody>
      </p:sp>
      <p:pic>
        <p:nvPicPr>
          <p:cNvPr id="246" name="Google Shape;2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625" y="2605000"/>
            <a:ext cx="3131300" cy="213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0625" y="1942475"/>
            <a:ext cx="3234075" cy="4083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2400" y="2052075"/>
            <a:ext cx="3323350" cy="323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/>
          <p:nvPr/>
        </p:nvSpPr>
        <p:spPr>
          <a:xfrm>
            <a:off x="2432304" y="385381"/>
            <a:ext cx="2216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72740"/>
                </a:solidFill>
                <a:latin typeface="Calibri"/>
                <a:ea typeface="Calibri"/>
                <a:cs typeface="Calibri"/>
                <a:sym typeface="Calibri"/>
              </a:rPr>
              <a:t>diagramas de 4+1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2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</a:t>
            </a:r>
            <a:endParaRPr/>
          </a:p>
        </p:txBody>
      </p:sp>
      <p:sp>
        <p:nvSpPr>
          <p:cNvPr id="255" name="Google Shape;255;p32"/>
          <p:cNvSpPr txBox="1"/>
          <p:nvPr/>
        </p:nvSpPr>
        <p:spPr>
          <a:xfrm>
            <a:off x="569750" y="1077963"/>
            <a:ext cx="59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Diagrama caso de uso </a:t>
            </a:r>
            <a:r>
              <a:rPr b="1" lang="en-US" sz="2400"/>
              <a:t>específicos</a:t>
            </a:r>
            <a:r>
              <a:rPr b="1" lang="en-US" sz="2400"/>
              <a:t>:</a:t>
            </a:r>
            <a:endParaRPr b="1" sz="2400"/>
          </a:p>
        </p:txBody>
      </p:sp>
      <p:pic>
        <p:nvPicPr>
          <p:cNvPr id="256" name="Google Shape;25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950" y="1847450"/>
            <a:ext cx="3625700" cy="478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1550" y="2394100"/>
            <a:ext cx="3501700" cy="322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Vista </a:t>
            </a:r>
            <a:r>
              <a:rPr lang="en-US"/>
              <a:t>lógica</a:t>
            </a:r>
            <a:r>
              <a:rPr lang="en-US"/>
              <a:t> 4+1</a:t>
            </a:r>
            <a:endParaRPr/>
          </a:p>
        </p:txBody>
      </p:sp>
      <p:sp>
        <p:nvSpPr>
          <p:cNvPr id="263" name="Google Shape;263;p33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</a:t>
            </a:r>
            <a:endParaRPr/>
          </a:p>
        </p:txBody>
      </p:sp>
      <p:pic>
        <p:nvPicPr>
          <p:cNvPr id="264" name="Google Shape;26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25" y="1261750"/>
            <a:ext cx="6384849" cy="531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3" title="Untitled Diagram.drawio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0450" y="1389350"/>
            <a:ext cx="4796925" cy="27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/>
          <p:nvPr/>
        </p:nvSpPr>
        <p:spPr>
          <a:xfrm>
            <a:off x="2432298" y="385375"/>
            <a:ext cx="3084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72740"/>
                </a:solidFill>
                <a:latin typeface="Calibri"/>
                <a:ea typeface="Calibri"/>
                <a:cs typeface="Calibri"/>
                <a:sym typeface="Calibri"/>
              </a:rPr>
              <a:t>Vista Desarrollo 4+1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4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</a:t>
            </a:r>
            <a:endParaRPr/>
          </a:p>
        </p:txBody>
      </p:sp>
      <p:pic>
        <p:nvPicPr>
          <p:cNvPr id="272" name="Google Shape;27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75" y="1357454"/>
            <a:ext cx="7251100" cy="429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4" title="Untitled Diagram.drawio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0450" y="1389350"/>
            <a:ext cx="4796925" cy="27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Vista procesos 4+1</a:t>
            </a:r>
            <a:endParaRPr/>
          </a:p>
        </p:txBody>
      </p:sp>
      <p:sp>
        <p:nvSpPr>
          <p:cNvPr id="279" name="Google Shape;279;p35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</a:t>
            </a:r>
            <a:endParaRPr/>
          </a:p>
        </p:txBody>
      </p:sp>
      <p:pic>
        <p:nvPicPr>
          <p:cNvPr id="280" name="Google Shape;28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125" y="1193225"/>
            <a:ext cx="6241301" cy="523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5" title="Untitled Diagram.drawio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0450" y="1389350"/>
            <a:ext cx="4796925" cy="27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6"/>
          <p:cNvSpPr txBox="1"/>
          <p:nvPr/>
        </p:nvSpPr>
        <p:spPr>
          <a:xfrm>
            <a:off x="2575825" y="600750"/>
            <a:ext cx="3661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72740"/>
                </a:solidFill>
                <a:latin typeface="Calibri"/>
                <a:ea typeface="Calibri"/>
                <a:cs typeface="Calibri"/>
                <a:sym typeface="Calibri"/>
              </a:rPr>
              <a:t>Vista despliegue 4+1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6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</a:t>
            </a:r>
            <a:endParaRPr/>
          </a:p>
        </p:txBody>
      </p:sp>
      <p:pic>
        <p:nvPicPr>
          <p:cNvPr id="288" name="Google Shape;2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275" y="1370650"/>
            <a:ext cx="9875476" cy="37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6" title="Untitled Diagram.drawio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575" y="4363625"/>
            <a:ext cx="3935150" cy="229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/>
          <p:nvPr>
            <p:ph type="title"/>
          </p:nvPr>
        </p:nvSpPr>
        <p:spPr>
          <a:xfrm>
            <a:off x="707184" y="404307"/>
            <a:ext cx="7566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Resultado calidad diagramas</a:t>
            </a:r>
            <a:endParaRPr/>
          </a:p>
        </p:txBody>
      </p:sp>
      <p:sp>
        <p:nvSpPr>
          <p:cNvPr id="295" name="Google Shape;295;p37"/>
          <p:cNvSpPr txBox="1"/>
          <p:nvPr>
            <p:ph idx="1" type="body"/>
          </p:nvPr>
        </p:nvSpPr>
        <p:spPr>
          <a:xfrm>
            <a:off x="1111950" y="1248675"/>
            <a:ext cx="9968100" cy="11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2000"/>
              <a:t>Se revisaron los diagramas UML del sistema UNILIB considerando su estructura, claridad y relación con los requerimientos. Lo ordenamos en esta tabla:</a:t>
            </a:r>
            <a:endParaRPr b="0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graphicFrame>
        <p:nvGraphicFramePr>
          <p:cNvPr id="296" name="Google Shape;296;p37"/>
          <p:cNvGraphicFramePr/>
          <p:nvPr/>
        </p:nvGraphicFramePr>
        <p:xfrm>
          <a:off x="1889938" y="275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{B16CB4C7-E29E-4F59-8407-26B8EF2D2BBF}</a:tableStyleId>
              </a:tblPr>
              <a:tblGrid>
                <a:gridCol w="3913225"/>
                <a:gridCol w="4498900"/>
              </a:tblGrid>
              <a:tr h="4701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Criterio Evaluado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Cumple?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UML usada correctamente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 diagramas tienen sentido?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¿Hay Relación con requerimientos?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 aplicó 4+1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Todo está claro visualmente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Todo está organizado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 txBox="1"/>
          <p:nvPr>
            <p:ph type="title"/>
          </p:nvPr>
        </p:nvSpPr>
        <p:spPr>
          <a:xfrm>
            <a:off x="675284" y="420257"/>
            <a:ext cx="7566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Resultado calidad </a:t>
            </a:r>
            <a:r>
              <a:rPr lang="en-US"/>
              <a:t>prototipo</a:t>
            </a:r>
            <a:r>
              <a:rPr lang="en-US"/>
              <a:t> no funcional</a:t>
            </a:r>
            <a:endParaRPr/>
          </a:p>
        </p:txBody>
      </p:sp>
      <p:sp>
        <p:nvSpPr>
          <p:cNvPr id="302" name="Google Shape;302;p38"/>
          <p:cNvSpPr txBox="1"/>
          <p:nvPr>
            <p:ph idx="1" type="body"/>
          </p:nvPr>
        </p:nvSpPr>
        <p:spPr>
          <a:xfrm>
            <a:off x="1024350" y="1424100"/>
            <a:ext cx="1014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/>
              <a:t>Se revisaron los prototipos de interfaz considerando la experiencia de usuario y organización visual. </a:t>
            </a:r>
            <a:endParaRPr b="0" sz="2000"/>
          </a:p>
        </p:txBody>
      </p:sp>
      <p:graphicFrame>
        <p:nvGraphicFramePr>
          <p:cNvPr id="303" name="Google Shape;303;p38"/>
          <p:cNvGraphicFramePr/>
          <p:nvPr/>
        </p:nvGraphicFramePr>
        <p:xfrm>
          <a:off x="1024350" y="230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{B16CB4C7-E29E-4F59-8407-26B8EF2D2BBF}</a:tableStyleId>
              </a:tblPr>
              <a:tblGrid>
                <a:gridCol w="4718550"/>
                <a:gridCol w="5424750"/>
              </a:tblGrid>
              <a:tr h="3619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Criterio Evaluado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Cumple?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Usabilidad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Accesibilidad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Todo es consistente visualmente?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diseño del sistema es intuitivo? (prototipo)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Todas las pantallas están organizadas?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Claridad de información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"/>
          <p:cNvSpPr txBox="1"/>
          <p:nvPr>
            <p:ph type="title"/>
          </p:nvPr>
        </p:nvSpPr>
        <p:spPr>
          <a:xfrm>
            <a:off x="675284" y="420257"/>
            <a:ext cx="7566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Resultado calidad prototipo FUNCIONAL</a:t>
            </a:r>
            <a:endParaRPr/>
          </a:p>
        </p:txBody>
      </p:sp>
      <p:sp>
        <p:nvSpPr>
          <p:cNvPr id="309" name="Google Shape;309;p39"/>
          <p:cNvSpPr txBox="1"/>
          <p:nvPr>
            <p:ph idx="1" type="body"/>
          </p:nvPr>
        </p:nvSpPr>
        <p:spPr>
          <a:xfrm>
            <a:off x="1024350" y="1424100"/>
            <a:ext cx="1014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/>
              <a:t>Se revisaron las funcionalidades principales del sistema y su relación con los requerimientos. </a:t>
            </a:r>
            <a:endParaRPr b="0" sz="2000"/>
          </a:p>
        </p:txBody>
      </p:sp>
      <p:graphicFrame>
        <p:nvGraphicFramePr>
          <p:cNvPr id="310" name="Google Shape;310;p39"/>
          <p:cNvGraphicFramePr/>
          <p:nvPr/>
        </p:nvGraphicFramePr>
        <p:xfrm>
          <a:off x="1024350" y="230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{B16CB4C7-E29E-4F59-8407-26B8EF2D2BBF}</a:tableStyleId>
              </a:tblPr>
              <a:tblGrid>
                <a:gridCol w="8785525"/>
                <a:gridCol w="1357775"/>
              </a:tblGrid>
              <a:tr h="3619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Criterio Evaluado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Cumple?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¿Está la relación con requerimientos funcionales?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 representaron los procesos de manera correcta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Las UMLs son coherentes?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¿El flujo de navegación es funcional?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Hay cobertura de funcionalidades principales?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¿El usuario tiene comprensión del proceso?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>
            <p:ph type="ctrTitle"/>
          </p:nvPr>
        </p:nvSpPr>
        <p:spPr>
          <a:xfrm>
            <a:off x="2432304" y="334962"/>
            <a:ext cx="4178300" cy="483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Descripción del proyecto</a:t>
            </a:r>
            <a:endParaRPr/>
          </a:p>
        </p:txBody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130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7" name="Google Shape;317;p40" title="Untitled Diagram.drawio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8950" y="1074762"/>
            <a:ext cx="9299449" cy="47084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0"/>
          <p:cNvSpPr txBox="1"/>
          <p:nvPr/>
        </p:nvSpPr>
        <p:spPr>
          <a:xfrm>
            <a:off x="716225" y="5917250"/>
            <a:ext cx="11004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En este diagrama se muestra cómo los distintos usuarios interactúan con el sistema UNILIB y las principales acciones que realizan dentro de la plataforma </a:t>
            </a:r>
            <a:endParaRPr b="1"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1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Especificación</a:t>
            </a:r>
            <a:r>
              <a:rPr lang="en-US"/>
              <a:t> casos de uso</a:t>
            </a:r>
            <a:endParaRPr/>
          </a:p>
        </p:txBody>
      </p:sp>
      <p:sp>
        <p:nvSpPr>
          <p:cNvPr id="324" name="Google Shape;324;p41"/>
          <p:cNvSpPr txBox="1"/>
          <p:nvPr>
            <p:ph idx="12" type="sldNum"/>
          </p:nvPr>
        </p:nvSpPr>
        <p:spPr>
          <a:xfrm>
            <a:off x="11657330" y="6427162"/>
            <a:ext cx="280034" cy="2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</a:t>
            </a:r>
            <a:endParaRPr/>
          </a:p>
        </p:txBody>
      </p:sp>
      <p:pic>
        <p:nvPicPr>
          <p:cNvPr id="325" name="Google Shape;32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350" y="1490451"/>
            <a:ext cx="5432575" cy="51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225" y="1543759"/>
            <a:ext cx="5432575" cy="5110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2"/>
          <p:cNvSpPr txBox="1"/>
          <p:nvPr>
            <p:ph type="title"/>
          </p:nvPr>
        </p:nvSpPr>
        <p:spPr>
          <a:xfrm>
            <a:off x="340359" y="101282"/>
            <a:ext cx="75660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6375">
            <a:spAutoFit/>
          </a:bodyPr>
          <a:lstStyle/>
          <a:p>
            <a:pPr indent="0" lvl="0" marL="210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Especificación</a:t>
            </a:r>
            <a:r>
              <a:rPr lang="en-US"/>
              <a:t> casos de uso</a:t>
            </a:r>
            <a:endParaRPr/>
          </a:p>
        </p:txBody>
      </p:sp>
      <p:sp>
        <p:nvSpPr>
          <p:cNvPr id="332" name="Google Shape;332;p42"/>
          <p:cNvSpPr txBox="1"/>
          <p:nvPr>
            <p:ph idx="12" type="sldNum"/>
          </p:nvPr>
        </p:nvSpPr>
        <p:spPr>
          <a:xfrm>
            <a:off x="11657330" y="6427162"/>
            <a:ext cx="279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</a:t>
            </a:r>
            <a:endParaRPr/>
          </a:p>
        </p:txBody>
      </p:sp>
      <p:pic>
        <p:nvPicPr>
          <p:cNvPr id="333" name="Google Shape;33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100" y="1168973"/>
            <a:ext cx="5616296" cy="546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 txBox="1"/>
          <p:nvPr>
            <p:ph type="ctrTitle"/>
          </p:nvPr>
        </p:nvSpPr>
        <p:spPr>
          <a:xfrm>
            <a:off x="684025" y="334950"/>
            <a:ext cx="67146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</a:t>
            </a:r>
            <a:r>
              <a:rPr lang="en-US"/>
              <a:t>EJECUCIÓN</a:t>
            </a:r>
            <a:r>
              <a:rPr lang="en-US"/>
              <a:t> de los Casos de Prueba</a:t>
            </a:r>
            <a:endParaRPr/>
          </a:p>
        </p:txBody>
      </p:sp>
      <p:pic>
        <p:nvPicPr>
          <p:cNvPr id="339" name="Google Shape;33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325" y="1958125"/>
            <a:ext cx="11341024" cy="482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3"/>
          <p:cNvSpPr txBox="1"/>
          <p:nvPr>
            <p:ph idx="1" type="subTitle"/>
          </p:nvPr>
        </p:nvSpPr>
        <p:spPr>
          <a:xfrm>
            <a:off x="584800" y="1224857"/>
            <a:ext cx="10832700" cy="330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0"/>
              <a:t>Evidencias:</a:t>
            </a:r>
            <a:endParaRPr b="0" sz="215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4"/>
          <p:cNvSpPr txBox="1"/>
          <p:nvPr>
            <p:ph type="ctrTitle"/>
          </p:nvPr>
        </p:nvSpPr>
        <p:spPr>
          <a:xfrm>
            <a:off x="684025" y="334950"/>
            <a:ext cx="67146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EJECUCIÓN de los Casos de Prueba</a:t>
            </a:r>
            <a:endParaRPr/>
          </a:p>
        </p:txBody>
      </p:sp>
      <p:sp>
        <p:nvSpPr>
          <p:cNvPr id="346" name="Google Shape;346;p44"/>
          <p:cNvSpPr txBox="1"/>
          <p:nvPr>
            <p:ph idx="1" type="subTitle"/>
          </p:nvPr>
        </p:nvSpPr>
        <p:spPr>
          <a:xfrm>
            <a:off x="584800" y="1224857"/>
            <a:ext cx="10832700" cy="330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0"/>
              <a:t>Evidencias:</a:t>
            </a:r>
            <a:endParaRPr b="0" sz="2150"/>
          </a:p>
        </p:txBody>
      </p:sp>
      <p:pic>
        <p:nvPicPr>
          <p:cNvPr id="347" name="Google Shape;34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800" y="1708147"/>
            <a:ext cx="7264125" cy="41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750" y="6063047"/>
            <a:ext cx="1021080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
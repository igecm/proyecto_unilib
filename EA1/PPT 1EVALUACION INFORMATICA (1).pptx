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Orelega One" charset="1" panose="02000503000000000000"/>
      <p:regular r:id="rId34"/>
    </p:embeddedFont>
    <p:embeddedFont>
      <p:font typeface="Arial" charset="1" panose="020B0604020202020204"/>
      <p:regular r:id="rId35"/>
    </p:embeddedFont>
    <p:embeddedFont>
      <p:font typeface="Calibri (MS)" charset="1" panose="020F0502020204030204"/>
      <p:regular r:id="rId37"/>
    </p:embeddedFont>
    <p:embeddedFont>
      <p:font typeface="ITC Franklin Gothic LT Semi-Bold" charset="1" panose="020B0704030502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notesSlides/notesSlide15.xml" Type="http://schemas.openxmlformats.org/officeDocument/2006/relationships/notesSlide"/><Relationship Id="rId52" Target="notesSlides/notesSlide16.xml" Type="http://schemas.openxmlformats.org/officeDocument/2006/relationships/notesSlide"/><Relationship Id="rId53" Target="notesSlides/notesSlide17.xml" Type="http://schemas.openxmlformats.org/officeDocument/2006/relationships/notesSlide"/><Relationship Id="rId54" Target="notesSlides/notesSlide18.xml" Type="http://schemas.openxmlformats.org/officeDocument/2006/relationships/notesSlide"/><Relationship Id="rId55" Target="notesSlides/notesSlide19.xml" Type="http://schemas.openxmlformats.org/officeDocument/2006/relationships/notesSlide"/><Relationship Id="rId56" Target="notesSlides/notesSlide20.xml" Type="http://schemas.openxmlformats.org/officeDocument/2006/relationships/notesSlide"/><Relationship Id="rId57" Target="notesSlides/notesSlide21.xml" Type="http://schemas.openxmlformats.org/officeDocument/2006/relationships/notesSlide"/><Relationship Id="rId58" Target="notesSlides/notesSlide22.xml" Type="http://schemas.openxmlformats.org/officeDocument/2006/relationships/notesSlide"/><Relationship Id="rId59" Target="notesSlides/notesSlide23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4.xml" Type="http://schemas.openxmlformats.org/officeDocument/2006/relationships/notesSlide"/><Relationship Id="rId61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4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3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4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8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4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3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4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3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3.png" Type="http://schemas.openxmlformats.org/officeDocument/2006/relationships/image"/><Relationship Id="rId8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73984" y="8601243"/>
            <a:ext cx="8058122" cy="15675"/>
            <a:chOff x="0" y="0"/>
            <a:chExt cx="10744162" cy="20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0414" y="0"/>
              <a:ext cx="10722737" cy="20955"/>
            </a:xfrm>
            <a:custGeom>
              <a:avLst/>
              <a:gdLst/>
              <a:ahLst/>
              <a:cxnLst/>
              <a:rect r="r" b="b" t="t" l="l"/>
              <a:pathLst>
                <a:path h="20955" w="10722737">
                  <a:moveTo>
                    <a:pt x="0" y="0"/>
                  </a:moveTo>
                  <a:lnTo>
                    <a:pt x="10722737" y="0"/>
                  </a:lnTo>
                  <a:lnTo>
                    <a:pt x="10722737" y="20955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81820" y="7914030"/>
            <a:ext cx="6169169" cy="2313546"/>
            <a:chOff x="0" y="0"/>
            <a:chExt cx="8225558" cy="30847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5558" cy="3084728"/>
            </a:xfrm>
            <a:custGeom>
              <a:avLst/>
              <a:gdLst/>
              <a:ahLst/>
              <a:cxnLst/>
              <a:rect r="r" b="b" t="t" l="l"/>
              <a:pathLst>
                <a:path h="3084728" w="8225558">
                  <a:moveTo>
                    <a:pt x="0" y="0"/>
                  </a:moveTo>
                  <a:lnTo>
                    <a:pt x="8225558" y="0"/>
                  </a:lnTo>
                  <a:lnTo>
                    <a:pt x="8225558" y="3084728"/>
                  </a:lnTo>
                  <a:lnTo>
                    <a:pt x="0" y="3084728"/>
                  </a:lnTo>
                  <a:close/>
                </a:path>
              </a:pathLst>
            </a:custGeom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8225558" cy="30847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Orelega One"/>
                  <a:ea typeface="Orelega One"/>
                  <a:cs typeface="Orelega One"/>
                  <a:sym typeface="Orelega One"/>
                </a:rPr>
                <a:t>Ingeniería de software</a:t>
              </a:r>
            </a:p>
            <a:p>
              <a:pPr algn="ctr">
                <a:lnSpc>
                  <a:spcPts val="5832"/>
                </a:lnSpc>
              </a:pPr>
              <a:r>
                <a:rPr lang="en-US" sz="5400">
                  <a:solidFill>
                    <a:srgbClr val="FFFFFF"/>
                  </a:solidFill>
                  <a:latin typeface="Orelega One"/>
                  <a:ea typeface="Orelega One"/>
                  <a:cs typeface="Orelega One"/>
                  <a:sym typeface="Orelega One"/>
                </a:rPr>
                <a:t>Evaluación N°1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05481" y="7148983"/>
            <a:ext cx="7651322" cy="78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2"/>
              </a:lnSpc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Seccion: 006D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" y="3039"/>
            <a:ext cx="18293410" cy="10283962"/>
            <a:chOff x="0" y="0"/>
            <a:chExt cx="24391214" cy="13711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1238" cy="13711937"/>
            </a:xfrm>
            <a:custGeom>
              <a:avLst/>
              <a:gdLst/>
              <a:ahLst/>
              <a:cxnLst/>
              <a:rect r="r" b="b" t="t" l="l"/>
              <a:pathLst>
                <a:path h="13711937" w="24391238">
                  <a:moveTo>
                    <a:pt x="0" y="0"/>
                  </a:moveTo>
                  <a:lnTo>
                    <a:pt x="24391238" y="0"/>
                  </a:lnTo>
                  <a:lnTo>
                    <a:pt x="24391238" y="13711937"/>
                  </a:lnTo>
                  <a:lnTo>
                    <a:pt x="0" y="1371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01900" y="9534525"/>
            <a:ext cx="3086100" cy="547688"/>
            <a:chOff x="0" y="0"/>
            <a:chExt cx="41148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800" cy="730250"/>
            </a:xfrm>
            <a:custGeom>
              <a:avLst/>
              <a:gdLst/>
              <a:ahLst/>
              <a:cxnLst/>
              <a:rect r="r" b="b" t="t" l="l"/>
              <a:pathLst>
                <a:path h="73025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148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C7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97841" y="4702077"/>
            <a:ext cx="8962575" cy="348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b="true" sz="3600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Sección:006D</a:t>
            </a:r>
          </a:p>
          <a:p>
            <a:pPr algn="l">
              <a:lnSpc>
                <a:spcPts val="3888"/>
              </a:lnSpc>
            </a:pPr>
            <a:r>
              <a:rPr lang="en-US" b="true" sz="3600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Docente: Mallen Gonzales</a:t>
            </a:r>
          </a:p>
          <a:p>
            <a:pPr algn="l">
              <a:lnSpc>
                <a:spcPts val="3888"/>
              </a:lnSpc>
            </a:pPr>
            <a:r>
              <a:rPr lang="en-US" b="true" sz="3600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Grupo Nº: 4 </a:t>
            </a:r>
          </a:p>
          <a:p>
            <a:pPr algn="l">
              <a:lnSpc>
                <a:spcPts val="3888"/>
              </a:lnSpc>
            </a:pPr>
            <a:r>
              <a:rPr lang="en-US" b="true" sz="3600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Integrantes:</a:t>
            </a:r>
          </a:p>
          <a:p>
            <a:pPr algn="l">
              <a:lnSpc>
                <a:spcPts val="3888"/>
              </a:lnSpc>
            </a:pPr>
            <a:r>
              <a:rPr lang="en-US" b="true" sz="3600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Alumno 1: Brandon Gomez </a:t>
            </a:r>
          </a:p>
          <a:p>
            <a:pPr algn="l">
              <a:lnSpc>
                <a:spcPts val="3888"/>
              </a:lnSpc>
            </a:pPr>
            <a:r>
              <a:rPr lang="en-US" b="true" sz="3600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Alumno 2 : Ignacio Cardenas</a:t>
            </a:r>
          </a:p>
          <a:p>
            <a:pPr algn="l">
              <a:lnSpc>
                <a:spcPts val="3888"/>
              </a:lnSpc>
            </a:pPr>
            <a:r>
              <a:rPr lang="en-US" b="true" sz="3600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Alumno 3 Yonathan Ceron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062" y="0"/>
            <a:ext cx="18281882" cy="10287000"/>
            <a:chOff x="0" y="0"/>
            <a:chExt cx="2437584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8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5872">
                  <a:moveTo>
                    <a:pt x="0" y="0"/>
                  </a:moveTo>
                  <a:lnTo>
                    <a:pt x="24375872" y="0"/>
                  </a:lnTo>
                  <a:lnTo>
                    <a:pt x="243758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79291" y="7167978"/>
            <a:ext cx="8998801" cy="2079348"/>
            <a:chOff x="0" y="0"/>
            <a:chExt cx="11998402" cy="2772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8452" cy="2772410"/>
            </a:xfrm>
            <a:custGeom>
              <a:avLst/>
              <a:gdLst/>
              <a:ahLst/>
              <a:cxnLst/>
              <a:rect r="r" b="b" t="t" l="l"/>
              <a:pathLst>
                <a:path h="2772410" w="11998452">
                  <a:moveTo>
                    <a:pt x="0" y="0"/>
                  </a:moveTo>
                  <a:lnTo>
                    <a:pt x="11998452" y="0"/>
                  </a:lnTo>
                  <a:lnTo>
                    <a:pt x="11998452" y="2772410"/>
                  </a:lnTo>
                  <a:lnTo>
                    <a:pt x="0" y="2772410"/>
                  </a:lnTo>
                  <a:close/>
                </a:path>
              </a:pathLst>
            </a:custGeom>
            <a:solidFill>
              <a:srgbClr val="172740">
                <a:alpha val="34118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66499" y="7513300"/>
            <a:ext cx="802235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Introducción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76" y="596804"/>
            <a:ext cx="2040792" cy="964587"/>
            <a:chOff x="0" y="0"/>
            <a:chExt cx="2721056" cy="1286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293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5" y="0"/>
                </a:lnTo>
                <a:lnTo>
                  <a:pt x="1433695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41186" y="9319144"/>
            <a:ext cx="344273" cy="427422"/>
            <a:chOff x="0" y="0"/>
            <a:chExt cx="459030" cy="569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332689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618975" y="9203076"/>
            <a:ext cx="102156" cy="102119"/>
            <a:chOff x="0" y="0"/>
            <a:chExt cx="136207" cy="136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862869" y="26930"/>
            <a:ext cx="1425131" cy="1534461"/>
          </a:xfrm>
          <a:custGeom>
            <a:avLst/>
            <a:gdLst/>
            <a:ahLst/>
            <a:cxnLst/>
            <a:rect r="r" b="b" t="t" l="l"/>
            <a:pathLst>
              <a:path h="1534461" w="1425131">
                <a:moveTo>
                  <a:pt x="0" y="0"/>
                </a:moveTo>
                <a:lnTo>
                  <a:pt x="1425131" y="0"/>
                </a:lnTo>
                <a:lnTo>
                  <a:pt x="1425131" y="1534461"/>
                </a:lnTo>
                <a:lnTo>
                  <a:pt x="0" y="15344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03777" y="695697"/>
            <a:ext cx="15270781" cy="49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</a:pPr>
            <a:r>
              <a:rPr lang="en-US" sz="3274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Entorno de negocio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03776" y="555415"/>
            <a:ext cx="5608155" cy="63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Introducción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39238" y="4835081"/>
            <a:ext cx="9525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954134" y="2784919"/>
            <a:ext cx="11751065" cy="534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1"/>
              </a:lnSpc>
            </a:pPr>
            <a:r>
              <a:rPr lang="en-US" sz="3779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El proyecto UNILIB surge para solucionar p</a:t>
            </a:r>
            <a:r>
              <a:rPr lang="en-US" sz="3779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roblemas comunes en bibliotecas tradicionales, como largas filas y errores en el control de stock. La propuesta consiste en implementar un sistema digital que automatice los procesos de préstamo y devolución mediante un catálogo en línea. Su propósito es mejorar la eficiencia del servicio y definir claramente los requisitos necesarios para su correcto funcionamiento.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534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6" y="0"/>
                </a:lnTo>
                <a:lnTo>
                  <a:pt x="1433696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94428" y="9319144"/>
            <a:ext cx="344272" cy="427422"/>
            <a:chOff x="0" y="0"/>
            <a:chExt cx="459030" cy="569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585931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872217" y="9203076"/>
            <a:ext cx="102156" cy="102119"/>
            <a:chOff x="0" y="0"/>
            <a:chExt cx="136207" cy="1361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28973" y="596804"/>
            <a:ext cx="2040792" cy="964587"/>
            <a:chOff x="0" y="0"/>
            <a:chExt cx="2721056" cy="12861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76275" y="866402"/>
            <a:ext cx="8715882" cy="63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Ámbito del Sistema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6761" y="1907749"/>
            <a:ext cx="10481345" cy="776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sz="377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Como á</a:t>
            </a:r>
            <a:r>
              <a:rPr lang="en-US" sz="377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mbito del sistema contamos con la siguiente gestión:</a:t>
            </a:r>
          </a:p>
          <a:p>
            <a:pPr algn="just">
              <a:lnSpc>
                <a:spcPts val="4079"/>
              </a:lnSpc>
            </a:pPr>
          </a:p>
          <a:p>
            <a:pPr algn="l" marL="815504" indent="-407752" lvl="1">
              <a:lnSpc>
                <a:spcPts val="4079"/>
              </a:lnSpc>
              <a:buFont typeface="Arial"/>
              <a:buChar char="•"/>
            </a:pPr>
            <a:r>
              <a:rPr lang="en-US" sz="377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Mantendremos un catálogo online de 24/7 horas para cada alumno y docente.</a:t>
            </a:r>
          </a:p>
          <a:p>
            <a:pPr algn="just">
              <a:lnSpc>
                <a:spcPts val="4079"/>
              </a:lnSpc>
            </a:pPr>
          </a:p>
          <a:p>
            <a:pPr algn="l" marL="815504" indent="-407752" lvl="1">
              <a:lnSpc>
                <a:spcPts val="4079"/>
              </a:lnSpc>
              <a:buFont typeface="Arial"/>
              <a:buChar char="•"/>
            </a:pPr>
            <a:r>
              <a:rPr lang="en-US" sz="377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se generará una automatización en los préstamos y devoluciones contando con un stock en vivo,</a:t>
            </a:r>
          </a:p>
          <a:p>
            <a:pPr algn="just">
              <a:lnSpc>
                <a:spcPts val="4079"/>
              </a:lnSpc>
            </a:pPr>
          </a:p>
          <a:p>
            <a:pPr algn="l" marL="815504" indent="-407752" lvl="1">
              <a:lnSpc>
                <a:spcPts val="4079"/>
              </a:lnSpc>
              <a:buFont typeface="Arial"/>
              <a:buChar char="•"/>
            </a:pPr>
            <a:r>
              <a:rPr lang="en-US" sz="377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finalizando con un sistema de alertas por atrasos mediante su SMS o correo. Lo que NO haremos momentáneamente será el pago mediante multas y la descarga de libros digitales como PDFs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-363"/>
            <a:ext cx="18281882" cy="10287000"/>
            <a:chOff x="0" y="0"/>
            <a:chExt cx="2437584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8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5872">
                  <a:moveTo>
                    <a:pt x="0" y="0"/>
                  </a:moveTo>
                  <a:lnTo>
                    <a:pt x="24375872" y="0"/>
                  </a:lnTo>
                  <a:lnTo>
                    <a:pt x="243758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14582" y="3826580"/>
            <a:ext cx="8998801" cy="2079348"/>
            <a:chOff x="0" y="0"/>
            <a:chExt cx="11998402" cy="2772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8452" cy="2772410"/>
            </a:xfrm>
            <a:custGeom>
              <a:avLst/>
              <a:gdLst/>
              <a:ahLst/>
              <a:cxnLst/>
              <a:rect r="r" b="b" t="t" l="l"/>
              <a:pathLst>
                <a:path h="2772410" w="11998452">
                  <a:moveTo>
                    <a:pt x="0" y="0"/>
                  </a:moveTo>
                  <a:lnTo>
                    <a:pt x="11998452" y="0"/>
                  </a:lnTo>
                  <a:lnTo>
                    <a:pt x="11998452" y="2772410"/>
                  </a:lnTo>
                  <a:lnTo>
                    <a:pt x="0" y="2772410"/>
                  </a:lnTo>
                  <a:close/>
                </a:path>
              </a:pathLst>
            </a:custGeom>
            <a:solidFill>
              <a:srgbClr val="172740">
                <a:alpha val="34118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496049" y="4169834"/>
            <a:ext cx="802235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Descripción General del Proyecto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76" y="596804"/>
            <a:ext cx="2040792" cy="964587"/>
            <a:chOff x="0" y="0"/>
            <a:chExt cx="2721056" cy="1286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293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5" y="0"/>
                </a:lnTo>
                <a:lnTo>
                  <a:pt x="1433695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41186" y="9319144"/>
            <a:ext cx="344273" cy="427422"/>
            <a:chOff x="0" y="0"/>
            <a:chExt cx="459030" cy="569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332689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618975" y="9203076"/>
            <a:ext cx="102156" cy="102119"/>
            <a:chOff x="0" y="0"/>
            <a:chExt cx="136207" cy="136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477370" y="2080603"/>
            <a:ext cx="11480018" cy="681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68"/>
              </a:lnSpc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Sobre la perspectiva del producto, tenemos un sistema independiente</a:t>
            </a:r>
          </a:p>
          <a:p>
            <a:pPr algn="just">
              <a:lnSpc>
                <a:spcPts val="4468"/>
              </a:lnSpc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pero vinculado. Esto significa que el programa cuenta con toda la gestión del inventario por sí solo, pero se conecta a la base de datos de la universidad para validar las credenciales de los alumnos de manera inmediata.</a:t>
            </a:r>
          </a:p>
          <a:p>
            <a:pPr algn="just">
              <a:lnSpc>
                <a:spcPts val="4468"/>
              </a:lnSpc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Además, un punto clave es que no se debe instalar nada; la plataforma será una web adaptable, así evitamos la fricción con los usuarios y nos aseguramos de que todos puedan entrar sin problemas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264155" y="2304270"/>
            <a:ext cx="5904025" cy="6356958"/>
          </a:xfrm>
          <a:custGeom>
            <a:avLst/>
            <a:gdLst/>
            <a:ahLst/>
            <a:cxnLst/>
            <a:rect r="r" b="b" t="t" l="l"/>
            <a:pathLst>
              <a:path h="6356958" w="5904025">
                <a:moveTo>
                  <a:pt x="5904025" y="0"/>
                </a:moveTo>
                <a:lnTo>
                  <a:pt x="0" y="0"/>
                </a:lnTo>
                <a:lnTo>
                  <a:pt x="0" y="6356959"/>
                </a:lnTo>
                <a:lnTo>
                  <a:pt x="5904025" y="6356959"/>
                </a:lnTo>
                <a:lnTo>
                  <a:pt x="5904025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03777" y="695697"/>
            <a:ext cx="15270781" cy="49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</a:pPr>
            <a:r>
              <a:rPr lang="en-US" sz="3274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Entorno de negocio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03776" y="555415"/>
            <a:ext cx="5608155" cy="120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Perspectiva del Producto</a:t>
            </a: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534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6" y="0"/>
                </a:lnTo>
                <a:lnTo>
                  <a:pt x="1433696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94428" y="9319144"/>
            <a:ext cx="344272" cy="427422"/>
            <a:chOff x="0" y="0"/>
            <a:chExt cx="459030" cy="569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585931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872217" y="9203076"/>
            <a:ext cx="102156" cy="102119"/>
            <a:chOff x="0" y="0"/>
            <a:chExt cx="136207" cy="1361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28973" y="596804"/>
            <a:ext cx="2040792" cy="964587"/>
            <a:chOff x="0" y="0"/>
            <a:chExt cx="2721056" cy="12861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1502521" y="2752991"/>
            <a:ext cx="9672142" cy="5446026"/>
          </a:xfrm>
          <a:custGeom>
            <a:avLst/>
            <a:gdLst/>
            <a:ahLst/>
            <a:cxnLst/>
            <a:rect r="r" b="b" t="t" l="l"/>
            <a:pathLst>
              <a:path h="5446026" w="9672142">
                <a:moveTo>
                  <a:pt x="0" y="0"/>
                </a:moveTo>
                <a:lnTo>
                  <a:pt x="9672142" y="0"/>
                </a:lnTo>
                <a:lnTo>
                  <a:pt x="9672142" y="5446026"/>
                </a:lnTo>
                <a:lnTo>
                  <a:pt x="0" y="54460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276275" y="866402"/>
            <a:ext cx="8715882" cy="63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Funciones del Producto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10385" y="2619641"/>
            <a:ext cx="11068956" cy="542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31"/>
              </a:lnSpc>
            </a:pPr>
            <a:r>
              <a:rPr lang="en-US" sz="4379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El sistema UNILIB tiene como función principal </a:t>
            </a:r>
            <a:r>
              <a:rPr lang="en-US" sz="4379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gestionar de manera eficiente los procesos de una biblioteca, permitiendo la búsqueda de libros, control de inventario, préstamos y devoluciones de forma automatizada, mejorando la organización y reduciendo errores.</a:t>
            </a:r>
          </a:p>
        </p:txBody>
      </p:sp>
    </p:spTree>
  </p:cSld>
  <p:clrMapOvr>
    <a:masterClrMapping/>
  </p:clrMapOvr>
  <p:transition spd="fast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76" y="596804"/>
            <a:ext cx="2040792" cy="964587"/>
            <a:chOff x="0" y="0"/>
            <a:chExt cx="2721056" cy="1286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293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5" y="0"/>
                </a:lnTo>
                <a:lnTo>
                  <a:pt x="1433695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41186" y="9319144"/>
            <a:ext cx="344273" cy="427422"/>
            <a:chOff x="0" y="0"/>
            <a:chExt cx="459030" cy="569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332689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618975" y="9203076"/>
            <a:ext cx="102156" cy="102119"/>
            <a:chOff x="0" y="0"/>
            <a:chExt cx="136207" cy="136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914136" y="2385802"/>
            <a:ext cx="11480018" cy="735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Gestión de Usuarios: Permisos divididos según el tipo de persona que entre.</a:t>
            </a:r>
          </a:p>
          <a:p>
            <a:pPr algn="l">
              <a:lnSpc>
                <a:spcPts val="4468"/>
              </a:lnSpc>
            </a:pPr>
          </a:p>
          <a:p>
            <a:pPr algn="l">
              <a:lnSpc>
                <a:spcPts val="4468"/>
              </a:lnSpc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Control de Inventario: Agregar, editar o eliminar libros con un clic.</a:t>
            </a:r>
          </a:p>
          <a:p>
            <a:pPr algn="l">
              <a:lnSpc>
                <a:spcPts val="4468"/>
              </a:lnSpc>
            </a:pPr>
          </a:p>
          <a:p>
            <a:pPr algn="l">
              <a:lnSpc>
                <a:spcPts val="4468"/>
              </a:lnSpc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Catálogo y Búsqueda: Filtros rápidos por autor, título o saga.</a:t>
            </a:r>
          </a:p>
          <a:p>
            <a:pPr algn="l">
              <a:lnSpc>
                <a:spcPts val="4468"/>
              </a:lnSpc>
            </a:pPr>
          </a:p>
          <a:p>
            <a:pPr algn="l">
              <a:lnSpc>
                <a:spcPts val="4468"/>
              </a:lnSpc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Reportes: Estadísticas automáticas para la administración sobre los libros más pedidos.</a:t>
            </a:r>
          </a:p>
          <a:p>
            <a:pPr algn="l">
              <a:lnSpc>
                <a:spcPts val="4468"/>
              </a:lnSpc>
            </a:pPr>
          </a:p>
          <a:p>
            <a:pPr algn="l">
              <a:lnSpc>
                <a:spcPts val="4468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true" flipV="false" rot="-499776">
            <a:off x="1587057" y="3849421"/>
            <a:ext cx="1082060" cy="1423763"/>
          </a:xfrm>
          <a:custGeom>
            <a:avLst/>
            <a:gdLst/>
            <a:ahLst/>
            <a:cxnLst/>
            <a:rect r="r" b="b" t="t" l="l"/>
            <a:pathLst>
              <a:path h="1423763" w="1082060">
                <a:moveTo>
                  <a:pt x="1082060" y="0"/>
                </a:moveTo>
                <a:lnTo>
                  <a:pt x="0" y="0"/>
                </a:lnTo>
                <a:lnTo>
                  <a:pt x="0" y="1423763"/>
                </a:lnTo>
                <a:lnTo>
                  <a:pt x="1082060" y="1423763"/>
                </a:lnTo>
                <a:lnTo>
                  <a:pt x="108206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9636" y="2125818"/>
            <a:ext cx="1090760" cy="1090760"/>
          </a:xfrm>
          <a:custGeom>
            <a:avLst/>
            <a:gdLst/>
            <a:ahLst/>
            <a:cxnLst/>
            <a:rect r="r" b="b" t="t" l="l"/>
            <a:pathLst>
              <a:path h="1090760" w="1090760">
                <a:moveTo>
                  <a:pt x="0" y="0"/>
                </a:moveTo>
                <a:lnTo>
                  <a:pt x="1090759" y="0"/>
                </a:lnTo>
                <a:lnTo>
                  <a:pt x="1090759" y="1090760"/>
                </a:lnTo>
                <a:lnTo>
                  <a:pt x="0" y="10907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09351" y="5772875"/>
            <a:ext cx="1198941" cy="1277941"/>
          </a:xfrm>
          <a:custGeom>
            <a:avLst/>
            <a:gdLst/>
            <a:ahLst/>
            <a:cxnLst/>
            <a:rect r="r" b="b" t="t" l="l"/>
            <a:pathLst>
              <a:path h="1277941" w="1198941">
                <a:moveTo>
                  <a:pt x="0" y="0"/>
                </a:moveTo>
                <a:lnTo>
                  <a:pt x="1198942" y="0"/>
                </a:lnTo>
                <a:lnTo>
                  <a:pt x="1198942" y="1277941"/>
                </a:lnTo>
                <a:lnTo>
                  <a:pt x="0" y="12779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4620" y="7050816"/>
            <a:ext cx="1717565" cy="1779022"/>
          </a:xfrm>
          <a:custGeom>
            <a:avLst/>
            <a:gdLst/>
            <a:ahLst/>
            <a:cxnLst/>
            <a:rect r="r" b="b" t="t" l="l"/>
            <a:pathLst>
              <a:path h="1779022" w="1717565">
                <a:moveTo>
                  <a:pt x="0" y="0"/>
                </a:moveTo>
                <a:lnTo>
                  <a:pt x="1717565" y="0"/>
                </a:lnTo>
                <a:lnTo>
                  <a:pt x="1717565" y="1779022"/>
                </a:lnTo>
                <a:lnTo>
                  <a:pt x="0" y="17790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03777" y="695697"/>
            <a:ext cx="7323415" cy="63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Características de los Usuarios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062" y="0"/>
            <a:ext cx="18281882" cy="10287000"/>
            <a:chOff x="0" y="0"/>
            <a:chExt cx="2437584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8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5872">
                  <a:moveTo>
                    <a:pt x="0" y="0"/>
                  </a:moveTo>
                  <a:lnTo>
                    <a:pt x="24375872" y="0"/>
                  </a:lnTo>
                  <a:lnTo>
                    <a:pt x="243758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79291" y="7167978"/>
            <a:ext cx="8998801" cy="2079348"/>
            <a:chOff x="0" y="0"/>
            <a:chExt cx="11998402" cy="2772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8452" cy="2772410"/>
            </a:xfrm>
            <a:custGeom>
              <a:avLst/>
              <a:gdLst/>
              <a:ahLst/>
              <a:cxnLst/>
              <a:rect r="r" b="b" t="t" l="l"/>
              <a:pathLst>
                <a:path h="2772410" w="11998452">
                  <a:moveTo>
                    <a:pt x="0" y="0"/>
                  </a:moveTo>
                  <a:lnTo>
                    <a:pt x="11998452" y="0"/>
                  </a:lnTo>
                  <a:lnTo>
                    <a:pt x="11998452" y="2772410"/>
                  </a:lnTo>
                  <a:lnTo>
                    <a:pt x="0" y="2772410"/>
                  </a:lnTo>
                  <a:close/>
                </a:path>
              </a:pathLst>
            </a:custGeom>
            <a:solidFill>
              <a:srgbClr val="172740">
                <a:alpha val="34118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66499" y="7513300"/>
            <a:ext cx="8022350" cy="172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Requisitos del Proyecto</a:t>
            </a:r>
          </a:p>
        </p:txBody>
      </p:sp>
    </p:spTree>
  </p:cSld>
  <p:clrMapOvr>
    <a:masterClrMapping/>
  </p:clrMapOvr>
  <p:transition spd="fast">
    <p:circl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76" y="596804"/>
            <a:ext cx="2040792" cy="964587"/>
            <a:chOff x="0" y="0"/>
            <a:chExt cx="2721056" cy="1286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293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5" y="0"/>
                </a:lnTo>
                <a:lnTo>
                  <a:pt x="1433695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41186" y="9319144"/>
            <a:ext cx="344273" cy="427422"/>
            <a:chOff x="0" y="0"/>
            <a:chExt cx="459030" cy="569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332689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618975" y="9203076"/>
            <a:ext cx="102156" cy="102119"/>
            <a:chOff x="0" y="0"/>
            <a:chExt cx="136207" cy="136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052425" y="831556"/>
            <a:ext cx="13355868" cy="8371520"/>
          </a:xfrm>
          <a:custGeom>
            <a:avLst/>
            <a:gdLst/>
            <a:ahLst/>
            <a:cxnLst/>
            <a:rect r="r" b="b" t="t" l="l"/>
            <a:pathLst>
              <a:path h="8371520" w="13355868">
                <a:moveTo>
                  <a:pt x="0" y="0"/>
                </a:moveTo>
                <a:lnTo>
                  <a:pt x="13355868" y="0"/>
                </a:lnTo>
                <a:lnTo>
                  <a:pt x="13355868" y="8371520"/>
                </a:lnTo>
                <a:lnTo>
                  <a:pt x="0" y="83715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146" r="0" b="-3146"/>
            </a:stretch>
          </a:blipFill>
        </p:spPr>
      </p:sp>
    </p:spTree>
  </p:cSld>
  <p:clrMapOvr>
    <a:masterClrMapping/>
  </p:clrMapOvr>
  <p:transition spd="fast">
    <p:cover dir="r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76" y="596804"/>
            <a:ext cx="2040792" cy="964587"/>
            <a:chOff x="0" y="0"/>
            <a:chExt cx="2721056" cy="1286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293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5" y="0"/>
                </a:lnTo>
                <a:lnTo>
                  <a:pt x="1433695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41186" y="9319144"/>
            <a:ext cx="344273" cy="427422"/>
            <a:chOff x="0" y="0"/>
            <a:chExt cx="459030" cy="569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332689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618975" y="9203076"/>
            <a:ext cx="102156" cy="102119"/>
            <a:chOff x="0" y="0"/>
            <a:chExt cx="136207" cy="136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019684" y="644425"/>
            <a:ext cx="13340983" cy="8888430"/>
          </a:xfrm>
          <a:custGeom>
            <a:avLst/>
            <a:gdLst/>
            <a:ahLst/>
            <a:cxnLst/>
            <a:rect r="r" b="b" t="t" l="l"/>
            <a:pathLst>
              <a:path h="8888430" w="13340983">
                <a:moveTo>
                  <a:pt x="0" y="0"/>
                </a:moveTo>
                <a:lnTo>
                  <a:pt x="13340983" y="0"/>
                </a:lnTo>
                <a:lnTo>
                  <a:pt x="13340983" y="8888431"/>
                </a:lnTo>
                <a:lnTo>
                  <a:pt x="0" y="8888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-363"/>
            <a:ext cx="18281882" cy="10287000"/>
            <a:chOff x="0" y="0"/>
            <a:chExt cx="2437584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8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5872">
                  <a:moveTo>
                    <a:pt x="0" y="0"/>
                  </a:moveTo>
                  <a:lnTo>
                    <a:pt x="24375872" y="0"/>
                  </a:lnTo>
                  <a:lnTo>
                    <a:pt x="243758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14582" y="3826580"/>
            <a:ext cx="8998801" cy="2079348"/>
            <a:chOff x="0" y="0"/>
            <a:chExt cx="11998402" cy="2772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8452" cy="2772410"/>
            </a:xfrm>
            <a:custGeom>
              <a:avLst/>
              <a:gdLst/>
              <a:ahLst/>
              <a:cxnLst/>
              <a:rect r="r" b="b" t="t" l="l"/>
              <a:pathLst>
                <a:path h="2772410" w="11998452">
                  <a:moveTo>
                    <a:pt x="0" y="0"/>
                  </a:moveTo>
                  <a:lnTo>
                    <a:pt x="11998452" y="0"/>
                  </a:lnTo>
                  <a:lnTo>
                    <a:pt x="11998452" y="2772410"/>
                  </a:lnTo>
                  <a:lnTo>
                    <a:pt x="0" y="2772410"/>
                  </a:lnTo>
                  <a:close/>
                </a:path>
              </a:pathLst>
            </a:custGeom>
            <a:solidFill>
              <a:srgbClr val="172740">
                <a:alpha val="34118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496049" y="4169834"/>
            <a:ext cx="802235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Propuesta de Planificación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4822" y="-167980"/>
            <a:ext cx="18677644" cy="14008233"/>
          </a:xfrm>
          <a:custGeom>
            <a:avLst/>
            <a:gdLst/>
            <a:ahLst/>
            <a:cxnLst/>
            <a:rect r="r" b="b" t="t" l="l"/>
            <a:pathLst>
              <a:path h="14008233" w="18677644">
                <a:moveTo>
                  <a:pt x="0" y="0"/>
                </a:moveTo>
                <a:lnTo>
                  <a:pt x="18677644" y="0"/>
                </a:lnTo>
                <a:lnTo>
                  <a:pt x="18677644" y="14008234"/>
                </a:lnTo>
                <a:lnTo>
                  <a:pt x="0" y="140082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28973" y="596804"/>
            <a:ext cx="2040792" cy="964587"/>
            <a:chOff x="0" y="0"/>
            <a:chExt cx="2721056" cy="12861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306723" y="614383"/>
            <a:ext cx="8394413" cy="137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84"/>
              </a:lnSpc>
            </a:pPr>
            <a:r>
              <a:rPr lang="en-US" sz="48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Definición del Equipo de Trabajo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062" y="0"/>
            <a:ext cx="18281882" cy="10287000"/>
            <a:chOff x="0" y="0"/>
            <a:chExt cx="2437584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8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5872">
                  <a:moveTo>
                    <a:pt x="0" y="0"/>
                  </a:moveTo>
                  <a:lnTo>
                    <a:pt x="24375872" y="0"/>
                  </a:lnTo>
                  <a:lnTo>
                    <a:pt x="243758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79291" y="7167978"/>
            <a:ext cx="8998801" cy="2079348"/>
            <a:chOff x="0" y="0"/>
            <a:chExt cx="11998402" cy="2772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8452" cy="2772410"/>
            </a:xfrm>
            <a:custGeom>
              <a:avLst/>
              <a:gdLst/>
              <a:ahLst/>
              <a:cxnLst/>
              <a:rect r="r" b="b" t="t" l="l"/>
              <a:pathLst>
                <a:path h="2772410" w="11998452">
                  <a:moveTo>
                    <a:pt x="0" y="0"/>
                  </a:moveTo>
                  <a:lnTo>
                    <a:pt x="11998452" y="0"/>
                  </a:lnTo>
                  <a:lnTo>
                    <a:pt x="11998452" y="2772410"/>
                  </a:lnTo>
                  <a:lnTo>
                    <a:pt x="0" y="2772410"/>
                  </a:lnTo>
                  <a:close/>
                </a:path>
              </a:pathLst>
            </a:custGeom>
            <a:solidFill>
              <a:srgbClr val="172740">
                <a:alpha val="34118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66499" y="7513300"/>
            <a:ext cx="802235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Metodologia rup</a:t>
            </a:r>
          </a:p>
        </p:txBody>
      </p:sp>
    </p:spTree>
  </p:cSld>
  <p:clrMapOvr>
    <a:masterClrMapping/>
  </p:clrMapOvr>
  <p:transition spd="fast">
    <p:wipe dir="d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831" y="-2227693"/>
            <a:ext cx="18371831" cy="10334155"/>
          </a:xfrm>
          <a:custGeom>
            <a:avLst/>
            <a:gdLst/>
            <a:ahLst/>
            <a:cxnLst/>
            <a:rect r="r" b="b" t="t" l="l"/>
            <a:pathLst>
              <a:path h="10334155" w="18371831">
                <a:moveTo>
                  <a:pt x="0" y="0"/>
                </a:moveTo>
                <a:lnTo>
                  <a:pt x="18371831" y="0"/>
                </a:lnTo>
                <a:lnTo>
                  <a:pt x="18371831" y="10334155"/>
                </a:lnTo>
                <a:lnTo>
                  <a:pt x="0" y="10334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8293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5" y="0"/>
                </a:lnTo>
                <a:lnTo>
                  <a:pt x="1433695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41186" y="9319144"/>
            <a:ext cx="344273" cy="427422"/>
            <a:chOff x="0" y="0"/>
            <a:chExt cx="459030" cy="5698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332689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7618975" y="9203076"/>
            <a:ext cx="102156" cy="102119"/>
            <a:chOff x="0" y="0"/>
            <a:chExt cx="136207" cy="1361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6" b="-4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9525"/>
            <a:ext cx="3187898" cy="72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Carta Gantt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050407"/>
            <a:ext cx="7234537" cy="323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60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Para cumplir con el plazo, se genera un trabajo óptimo y en paralelo. Es decir, no esperamos a terminar una fase para empezar la siguiente. Avanzamos con el diseño antes de cerrar por completo el levantamiento de requisitos, y nuestras pruebas inician a la par con la compilación de código para asegurar la entrega.</a:t>
            </a:r>
          </a:p>
          <a:p>
            <a:pPr algn="l">
              <a:lnSpc>
                <a:spcPts val="2815"/>
              </a:lnSpc>
            </a:pPr>
          </a:p>
          <a:p>
            <a:pPr algn="l">
              <a:lnSpc>
                <a:spcPts val="2815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-363"/>
            <a:ext cx="18281882" cy="10287000"/>
            <a:chOff x="0" y="0"/>
            <a:chExt cx="2437584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8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5872">
                  <a:moveTo>
                    <a:pt x="0" y="0"/>
                  </a:moveTo>
                  <a:lnTo>
                    <a:pt x="24375872" y="0"/>
                  </a:lnTo>
                  <a:lnTo>
                    <a:pt x="243758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14582" y="3826580"/>
            <a:ext cx="8998801" cy="2079348"/>
            <a:chOff x="0" y="0"/>
            <a:chExt cx="11998402" cy="2772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8452" cy="2772410"/>
            </a:xfrm>
            <a:custGeom>
              <a:avLst/>
              <a:gdLst/>
              <a:ahLst/>
              <a:cxnLst/>
              <a:rect r="r" b="b" t="t" l="l"/>
              <a:pathLst>
                <a:path h="2772410" w="11998452">
                  <a:moveTo>
                    <a:pt x="0" y="0"/>
                  </a:moveTo>
                  <a:lnTo>
                    <a:pt x="11998452" y="0"/>
                  </a:lnTo>
                  <a:lnTo>
                    <a:pt x="11998452" y="2772410"/>
                  </a:lnTo>
                  <a:lnTo>
                    <a:pt x="0" y="2772410"/>
                  </a:lnTo>
                  <a:close/>
                </a:path>
              </a:pathLst>
            </a:custGeom>
            <a:solidFill>
              <a:srgbClr val="172740">
                <a:alpha val="34118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496049" y="4169834"/>
            <a:ext cx="802235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Product Backlog Priorizado</a:t>
            </a:r>
          </a:p>
        </p:txBody>
      </p:sp>
    </p:spTree>
  </p:cSld>
  <p:clrMapOvr>
    <a:masterClrMapping/>
  </p:clrMapOvr>
  <p:transition spd="fast">
    <p:cover dir="rd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534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6" y="0"/>
                </a:lnTo>
                <a:lnTo>
                  <a:pt x="1433696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94428" y="9319144"/>
            <a:ext cx="344272" cy="427422"/>
            <a:chOff x="0" y="0"/>
            <a:chExt cx="459030" cy="569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585931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872217" y="9203076"/>
            <a:ext cx="102156" cy="102119"/>
            <a:chOff x="0" y="0"/>
            <a:chExt cx="136207" cy="1361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328498" y="-367273"/>
            <a:ext cx="19956223" cy="11021547"/>
          </a:xfrm>
          <a:custGeom>
            <a:avLst/>
            <a:gdLst/>
            <a:ahLst/>
            <a:cxnLst/>
            <a:rect r="r" b="b" t="t" l="l"/>
            <a:pathLst>
              <a:path h="11021547" w="19956223">
                <a:moveTo>
                  <a:pt x="0" y="0"/>
                </a:moveTo>
                <a:lnTo>
                  <a:pt x="19956223" y="0"/>
                </a:lnTo>
                <a:lnTo>
                  <a:pt x="19956223" y="11021546"/>
                </a:lnTo>
                <a:lnTo>
                  <a:pt x="0" y="11021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24" r="0" b="-924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-3502296" y="6004742"/>
            <a:ext cx="12777600" cy="461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0"/>
              </a:lnSpc>
            </a:pPr>
            <a:r>
              <a:rPr lang="en-US" sz="150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Kanban</a:t>
            </a:r>
          </a:p>
          <a:p>
            <a:pPr algn="r">
              <a:lnSpc>
                <a:spcPts val="4860"/>
              </a:lnSpc>
            </a:pPr>
          </a:p>
          <a:p>
            <a:pPr algn="l">
              <a:lnSpc>
                <a:spcPts val="4860"/>
              </a:lnSpc>
            </a:pPr>
          </a:p>
          <a:p>
            <a:pPr algn="l">
              <a:lnSpc>
                <a:spcPts val="4860"/>
              </a:lnSpc>
            </a:pPr>
          </a:p>
          <a:p>
            <a:pPr algn="l">
              <a:lnSpc>
                <a:spcPts val="486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062" y="0"/>
            <a:ext cx="18281882" cy="10287000"/>
            <a:chOff x="0" y="0"/>
            <a:chExt cx="2437584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8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5872">
                  <a:moveTo>
                    <a:pt x="0" y="0"/>
                  </a:moveTo>
                  <a:lnTo>
                    <a:pt x="24375872" y="0"/>
                  </a:lnTo>
                  <a:lnTo>
                    <a:pt x="243758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79291" y="7167978"/>
            <a:ext cx="8998801" cy="2079348"/>
            <a:chOff x="0" y="0"/>
            <a:chExt cx="11998402" cy="2772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8452" cy="2772410"/>
            </a:xfrm>
            <a:custGeom>
              <a:avLst/>
              <a:gdLst/>
              <a:ahLst/>
              <a:cxnLst/>
              <a:rect r="r" b="b" t="t" l="l"/>
              <a:pathLst>
                <a:path h="2772410" w="11998452">
                  <a:moveTo>
                    <a:pt x="0" y="0"/>
                  </a:moveTo>
                  <a:lnTo>
                    <a:pt x="11998452" y="0"/>
                  </a:lnTo>
                  <a:lnTo>
                    <a:pt x="11998452" y="2772410"/>
                  </a:lnTo>
                  <a:lnTo>
                    <a:pt x="0" y="2772410"/>
                  </a:lnTo>
                  <a:close/>
                </a:path>
              </a:pathLst>
            </a:custGeom>
            <a:solidFill>
              <a:srgbClr val="172740">
                <a:alpha val="34118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66499" y="7513300"/>
            <a:ext cx="802235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prototipo software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76" y="596804"/>
            <a:ext cx="2040792" cy="964587"/>
            <a:chOff x="0" y="0"/>
            <a:chExt cx="2721056" cy="1286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293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5" y="0"/>
                </a:lnTo>
                <a:lnTo>
                  <a:pt x="1433695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41186" y="9319144"/>
            <a:ext cx="344273" cy="427422"/>
            <a:chOff x="0" y="0"/>
            <a:chExt cx="459030" cy="569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332689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618975" y="9203076"/>
            <a:ext cx="102156" cy="102119"/>
            <a:chOff x="0" y="0"/>
            <a:chExt cx="136207" cy="136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5777" y="-879048"/>
            <a:ext cx="18622487" cy="12045096"/>
          </a:xfrm>
          <a:custGeom>
            <a:avLst/>
            <a:gdLst/>
            <a:ahLst/>
            <a:cxnLst/>
            <a:rect r="r" b="b" t="t" l="l"/>
            <a:pathLst>
              <a:path h="12045096" w="18622487">
                <a:moveTo>
                  <a:pt x="0" y="0"/>
                </a:moveTo>
                <a:lnTo>
                  <a:pt x="18622488" y="0"/>
                </a:lnTo>
                <a:lnTo>
                  <a:pt x="18622488" y="12045096"/>
                </a:lnTo>
                <a:lnTo>
                  <a:pt x="0" y="120450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503" r="0" b="-150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26731" y="9525"/>
            <a:ext cx="5756821" cy="340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8"/>
              </a:lnSpc>
            </a:pPr>
            <a:r>
              <a:rPr lang="en-US" sz="4146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prototipo software</a:t>
            </a:r>
          </a:p>
          <a:p>
            <a:pPr algn="just">
              <a:lnSpc>
                <a:spcPts val="3189"/>
              </a:lnSpc>
            </a:pPr>
          </a:p>
          <a:p>
            <a:pPr algn="just">
              <a:lnSpc>
                <a:spcPts val="3189"/>
              </a:lnSpc>
            </a:pPr>
          </a:p>
          <a:p>
            <a:pPr algn="just">
              <a:lnSpc>
                <a:spcPts val="3189"/>
              </a:lnSpc>
            </a:pPr>
          </a:p>
          <a:p>
            <a:pPr algn="just">
              <a:lnSpc>
                <a:spcPts val="3189"/>
              </a:lnSpc>
            </a:pPr>
          </a:p>
          <a:p>
            <a:pPr algn="just">
              <a:lnSpc>
                <a:spcPts val="3189"/>
              </a:lnSpc>
            </a:pPr>
          </a:p>
          <a:p>
            <a:pPr algn="just">
              <a:lnSpc>
                <a:spcPts val="3189"/>
              </a:lnSpc>
            </a:pPr>
          </a:p>
          <a:p>
            <a:pPr algn="just">
              <a:lnSpc>
                <a:spcPts val="3189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-363"/>
            <a:ext cx="18281882" cy="10287000"/>
            <a:chOff x="0" y="0"/>
            <a:chExt cx="2437584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8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5872">
                  <a:moveTo>
                    <a:pt x="0" y="0"/>
                  </a:moveTo>
                  <a:lnTo>
                    <a:pt x="24375872" y="0"/>
                  </a:lnTo>
                  <a:lnTo>
                    <a:pt x="243758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14582" y="3826580"/>
            <a:ext cx="8998801" cy="2079348"/>
            <a:chOff x="0" y="0"/>
            <a:chExt cx="11998402" cy="2772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8452" cy="2772410"/>
            </a:xfrm>
            <a:custGeom>
              <a:avLst/>
              <a:gdLst/>
              <a:ahLst/>
              <a:cxnLst/>
              <a:rect r="r" b="b" t="t" l="l"/>
              <a:pathLst>
                <a:path h="2772410" w="11998452">
                  <a:moveTo>
                    <a:pt x="0" y="0"/>
                  </a:moveTo>
                  <a:lnTo>
                    <a:pt x="11998452" y="0"/>
                  </a:lnTo>
                  <a:lnTo>
                    <a:pt x="11998452" y="2772410"/>
                  </a:lnTo>
                  <a:lnTo>
                    <a:pt x="0" y="2772410"/>
                  </a:lnTo>
                  <a:close/>
                </a:path>
              </a:pathLst>
            </a:custGeom>
            <a:solidFill>
              <a:srgbClr val="172740">
                <a:alpha val="34118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496049" y="4169834"/>
            <a:ext cx="802235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Calidad y arquitectura</a:t>
            </a:r>
          </a:p>
        </p:txBody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872217" y="9203076"/>
            <a:ext cx="102156" cy="102119"/>
            <a:chOff x="0" y="0"/>
            <a:chExt cx="136207" cy="136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6" b="-4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228973" y="596804"/>
            <a:ext cx="2040792" cy="964587"/>
            <a:chOff x="0" y="0"/>
            <a:chExt cx="2721056" cy="12861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61820" y="3831800"/>
            <a:ext cx="13967152" cy="487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2"/>
              </a:lnSpc>
              <a:spcBef>
                <a:spcPct val="0"/>
              </a:spcBef>
            </a:pPr>
            <a:r>
              <a:rPr lang="en-US" sz="503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 el sistema contará con un sistema modulado para aguantar el tráfico en días de evaluaciones o alta demanda. También contará con escalabilidad para futuras integraciones en la base de datos, lo que permite un acceso inmediato a los nuevos usuarios que se vayan integrando al sistema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824158" y="6975509"/>
            <a:ext cx="5588000" cy="4114800"/>
          </a:xfrm>
          <a:custGeom>
            <a:avLst/>
            <a:gdLst/>
            <a:ahLst/>
            <a:cxnLst/>
            <a:rect r="r" b="b" t="t" l="l"/>
            <a:pathLst>
              <a:path h="4114800" w="5588000">
                <a:moveTo>
                  <a:pt x="0" y="0"/>
                </a:moveTo>
                <a:lnTo>
                  <a:pt x="5588000" y="0"/>
                </a:lnTo>
                <a:lnTo>
                  <a:pt x="5588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283000"/>
            <a:ext cx="3826217" cy="4114800"/>
          </a:xfrm>
          <a:custGeom>
            <a:avLst/>
            <a:gdLst/>
            <a:ahLst/>
            <a:cxnLst/>
            <a:rect r="r" b="b" t="t" l="l"/>
            <a:pathLst>
              <a:path h="4114800" w="3826217">
                <a:moveTo>
                  <a:pt x="0" y="0"/>
                </a:moveTo>
                <a:lnTo>
                  <a:pt x="3826217" y="0"/>
                </a:lnTo>
                <a:lnTo>
                  <a:pt x="3826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23745" y="707280"/>
            <a:ext cx="8394412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60"/>
              </a:lnSpc>
            </a:pPr>
            <a:r>
              <a:rPr lang="en-US" sz="45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Prototipo del Software</a:t>
            </a:r>
          </a:p>
        </p:txBody>
      </p: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363"/>
            <a:ext cx="18288646" cy="10286638"/>
            <a:chOff x="0" y="0"/>
            <a:chExt cx="24384862" cy="1371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888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24384888">
                  <a:moveTo>
                    <a:pt x="0" y="0"/>
                  </a:moveTo>
                  <a:lnTo>
                    <a:pt x="24384888" y="0"/>
                  </a:lnTo>
                  <a:lnTo>
                    <a:pt x="24384888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062" y="0"/>
            <a:ext cx="18281882" cy="10287000"/>
            <a:chOff x="0" y="0"/>
            <a:chExt cx="2437584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8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5872">
                  <a:moveTo>
                    <a:pt x="0" y="0"/>
                  </a:moveTo>
                  <a:lnTo>
                    <a:pt x="24375872" y="0"/>
                  </a:lnTo>
                  <a:lnTo>
                    <a:pt x="243758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79291" y="7167978"/>
            <a:ext cx="8998801" cy="2079348"/>
            <a:chOff x="0" y="0"/>
            <a:chExt cx="11998402" cy="2772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98452" cy="2772410"/>
            </a:xfrm>
            <a:custGeom>
              <a:avLst/>
              <a:gdLst/>
              <a:ahLst/>
              <a:cxnLst/>
              <a:rect r="r" b="b" t="t" l="l"/>
              <a:pathLst>
                <a:path h="2772410" w="11998452">
                  <a:moveTo>
                    <a:pt x="0" y="0"/>
                  </a:moveTo>
                  <a:lnTo>
                    <a:pt x="11998452" y="0"/>
                  </a:lnTo>
                  <a:lnTo>
                    <a:pt x="11998452" y="2772410"/>
                  </a:lnTo>
                  <a:lnTo>
                    <a:pt x="0" y="2772410"/>
                  </a:lnTo>
                  <a:close/>
                </a:path>
              </a:pathLst>
            </a:custGeom>
            <a:solidFill>
              <a:srgbClr val="172740">
                <a:alpha val="34118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66499" y="7513300"/>
            <a:ext cx="802235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6000">
                <a:solidFill>
                  <a:srgbClr val="FFFFFF"/>
                </a:solidFill>
                <a:latin typeface="Orelega One"/>
                <a:ea typeface="Orelega One"/>
                <a:cs typeface="Orelega One"/>
                <a:sym typeface="Orelega One"/>
              </a:rPr>
              <a:t>Resumen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76" y="596804"/>
            <a:ext cx="2040792" cy="964587"/>
            <a:chOff x="0" y="0"/>
            <a:chExt cx="2721056" cy="1286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08293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5" y="0"/>
                </a:lnTo>
                <a:lnTo>
                  <a:pt x="1433695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41186" y="9319144"/>
            <a:ext cx="344273" cy="427422"/>
            <a:chOff x="0" y="0"/>
            <a:chExt cx="459030" cy="569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332689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7618975" y="9203076"/>
            <a:ext cx="102156" cy="102119"/>
            <a:chOff x="0" y="0"/>
            <a:chExt cx="136207" cy="136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true" flipV="false" rot="0">
            <a:off x="-342859" y="1664852"/>
            <a:ext cx="7646047" cy="8229600"/>
          </a:xfrm>
          <a:custGeom>
            <a:avLst/>
            <a:gdLst/>
            <a:ahLst/>
            <a:cxnLst/>
            <a:rect r="r" b="b" t="t" l="l"/>
            <a:pathLst>
              <a:path h="8229600" w="7646047">
                <a:moveTo>
                  <a:pt x="7646047" y="0"/>
                </a:moveTo>
                <a:lnTo>
                  <a:pt x="0" y="0"/>
                </a:lnTo>
                <a:lnTo>
                  <a:pt x="0" y="8229600"/>
                </a:lnTo>
                <a:lnTo>
                  <a:pt x="7646047" y="8229600"/>
                </a:lnTo>
                <a:lnTo>
                  <a:pt x="7646047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07982" y="2048720"/>
            <a:ext cx="11480018" cy="679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3206" indent="-446603" lvl="1">
              <a:lnSpc>
                <a:spcPts val="4468"/>
              </a:lnSpc>
              <a:buFont typeface="Arial"/>
              <a:buChar char="•"/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Conclusión: UNILIB :Es mas que  una base de datos. Como finalizad  es ser un  ecosistema digital completo agilizando el trafico.</a:t>
            </a:r>
          </a:p>
          <a:p>
            <a:pPr algn="l">
              <a:lnSpc>
                <a:spcPts val="4468"/>
              </a:lnSpc>
            </a:pPr>
          </a:p>
          <a:p>
            <a:pPr algn="l" marL="893206" indent="-446603" lvl="1">
              <a:lnSpc>
                <a:spcPts val="4468"/>
              </a:lnSpc>
              <a:buFont typeface="Arial"/>
              <a:buChar char="•"/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Transformamos la fricción y las filas en procesos automatizados.</a:t>
            </a:r>
          </a:p>
          <a:p>
            <a:pPr algn="l">
              <a:lnSpc>
                <a:spcPts val="4468"/>
              </a:lnSpc>
            </a:pPr>
          </a:p>
          <a:p>
            <a:pPr algn="l" marL="893206" indent="-446603" lvl="1">
              <a:lnSpc>
                <a:spcPts val="4468"/>
              </a:lnSpc>
              <a:buFont typeface="Arial"/>
              <a:buChar char="•"/>
            </a:pPr>
            <a:r>
              <a:rPr lang="en-US" sz="4137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Le devolvemos el control a la administración y la autonomía a los estudiantes. El sistema está planificado, documentado y listo para ser construido.</a:t>
            </a:r>
          </a:p>
          <a:p>
            <a:pPr algn="l">
              <a:lnSpc>
                <a:spcPts val="446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646677" y="705222"/>
            <a:ext cx="2927152" cy="72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Conclusion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534" y="9280036"/>
            <a:ext cx="1433696" cy="464966"/>
          </a:xfrm>
          <a:custGeom>
            <a:avLst/>
            <a:gdLst/>
            <a:ahLst/>
            <a:cxnLst/>
            <a:rect r="r" b="b" t="t" l="l"/>
            <a:pathLst>
              <a:path h="464966" w="1433696">
                <a:moveTo>
                  <a:pt x="0" y="0"/>
                </a:moveTo>
                <a:lnTo>
                  <a:pt x="1433696" y="0"/>
                </a:lnTo>
                <a:lnTo>
                  <a:pt x="1433696" y="464966"/>
                </a:lnTo>
                <a:lnTo>
                  <a:pt x="0" y="464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94428" y="9319144"/>
            <a:ext cx="344272" cy="427422"/>
            <a:chOff x="0" y="0"/>
            <a:chExt cx="459030" cy="569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470" cy="569849"/>
            </a:xfrm>
            <a:custGeom>
              <a:avLst/>
              <a:gdLst/>
              <a:ahLst/>
              <a:cxnLst/>
              <a:rect r="r" b="b" t="t" l="l"/>
              <a:pathLst>
                <a:path h="569849" w="458470">
                  <a:moveTo>
                    <a:pt x="458470" y="0"/>
                  </a:moveTo>
                  <a:lnTo>
                    <a:pt x="331978" y="0"/>
                  </a:lnTo>
                  <a:lnTo>
                    <a:pt x="331978" y="322707"/>
                  </a:lnTo>
                  <a:lnTo>
                    <a:pt x="325247" y="387223"/>
                  </a:lnTo>
                  <a:lnTo>
                    <a:pt x="305435" y="432689"/>
                  </a:lnTo>
                  <a:lnTo>
                    <a:pt x="273050" y="459486"/>
                  </a:lnTo>
                  <a:lnTo>
                    <a:pt x="228854" y="468249"/>
                  </a:lnTo>
                  <a:lnTo>
                    <a:pt x="185674" y="459105"/>
                  </a:lnTo>
                  <a:lnTo>
                    <a:pt x="153670" y="431800"/>
                  </a:lnTo>
                  <a:lnTo>
                    <a:pt x="133985" y="386334"/>
                  </a:lnTo>
                  <a:lnTo>
                    <a:pt x="127254" y="322834"/>
                  </a:lnTo>
                  <a:lnTo>
                    <a:pt x="127254" y="0"/>
                  </a:lnTo>
                  <a:lnTo>
                    <a:pt x="0" y="0"/>
                  </a:lnTo>
                  <a:lnTo>
                    <a:pt x="0" y="312801"/>
                  </a:lnTo>
                  <a:lnTo>
                    <a:pt x="5080" y="383413"/>
                  </a:lnTo>
                  <a:lnTo>
                    <a:pt x="19812" y="441960"/>
                  </a:lnTo>
                  <a:lnTo>
                    <a:pt x="43942" y="489077"/>
                  </a:lnTo>
                  <a:lnTo>
                    <a:pt x="76962" y="525018"/>
                  </a:lnTo>
                  <a:lnTo>
                    <a:pt x="118364" y="550164"/>
                  </a:lnTo>
                  <a:lnTo>
                    <a:pt x="167767" y="565023"/>
                  </a:lnTo>
                  <a:lnTo>
                    <a:pt x="224790" y="569849"/>
                  </a:lnTo>
                  <a:lnTo>
                    <a:pt x="283845" y="564769"/>
                  </a:lnTo>
                  <a:lnTo>
                    <a:pt x="335153" y="549529"/>
                  </a:lnTo>
                  <a:lnTo>
                    <a:pt x="378206" y="523875"/>
                  </a:lnTo>
                  <a:lnTo>
                    <a:pt x="412623" y="487680"/>
                  </a:lnTo>
                  <a:lnTo>
                    <a:pt x="437769" y="440817"/>
                  </a:lnTo>
                  <a:lnTo>
                    <a:pt x="453263" y="383159"/>
                  </a:lnTo>
                  <a:lnTo>
                    <a:pt x="458470" y="314579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585931" y="9312285"/>
            <a:ext cx="333297" cy="434354"/>
          </a:xfrm>
          <a:custGeom>
            <a:avLst/>
            <a:gdLst/>
            <a:ahLst/>
            <a:cxnLst/>
            <a:rect r="r" b="b" t="t" l="l"/>
            <a:pathLst>
              <a:path h="434354" w="333297">
                <a:moveTo>
                  <a:pt x="0" y="0"/>
                </a:moveTo>
                <a:lnTo>
                  <a:pt x="333297" y="0"/>
                </a:lnTo>
                <a:lnTo>
                  <a:pt x="333297" y="434353"/>
                </a:lnTo>
                <a:lnTo>
                  <a:pt x="0" y="434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872217" y="9203076"/>
            <a:ext cx="102156" cy="102119"/>
            <a:chOff x="0" y="0"/>
            <a:chExt cx="136207" cy="1361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144" cy="136144"/>
            </a:xfrm>
            <a:custGeom>
              <a:avLst/>
              <a:gdLst/>
              <a:ahLst/>
              <a:cxnLst/>
              <a:rect r="r" b="b" t="t" l="l"/>
              <a:pathLst>
                <a:path h="136144" w="136144">
                  <a:moveTo>
                    <a:pt x="0" y="0"/>
                  </a:moveTo>
                  <a:lnTo>
                    <a:pt x="136144" y="0"/>
                  </a:lnTo>
                  <a:lnTo>
                    <a:pt x="136144" y="136144"/>
                  </a:lnTo>
                  <a:lnTo>
                    <a:pt x="0" y="136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6" b="-4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28973" y="596804"/>
            <a:ext cx="2040792" cy="964587"/>
            <a:chOff x="0" y="0"/>
            <a:chExt cx="2721056" cy="12861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20975" cy="1285621"/>
            </a:xfrm>
            <a:custGeom>
              <a:avLst/>
              <a:gdLst/>
              <a:ahLst/>
              <a:cxnLst/>
              <a:rect r="r" b="b" t="t" l="l"/>
              <a:pathLst>
                <a:path h="1285621" w="2720975">
                  <a:moveTo>
                    <a:pt x="2720975" y="0"/>
                  </a:moveTo>
                  <a:lnTo>
                    <a:pt x="0" y="0"/>
                  </a:lnTo>
                  <a:lnTo>
                    <a:pt x="0" y="1285621"/>
                  </a:lnTo>
                  <a:lnTo>
                    <a:pt x="2720975" y="1285621"/>
                  </a:lnTo>
                  <a:lnTo>
                    <a:pt x="2720975" y="0"/>
                  </a:lnTo>
                  <a:close/>
                </a:path>
              </a:pathLst>
            </a:custGeom>
            <a:solidFill>
              <a:srgbClr val="257CE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629260" y="770077"/>
            <a:ext cx="6156038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500">
                <a:solidFill>
                  <a:srgbClr val="000000"/>
                </a:solidFill>
                <a:latin typeface="Orelega One"/>
                <a:ea typeface="Orelega One"/>
                <a:cs typeface="Orelega One"/>
                <a:sym typeface="Orelega One"/>
              </a:rPr>
              <a:t>Preguntas , Conclusiones y reflexiones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4736997" y="2200752"/>
            <a:ext cx="9459466" cy="6331743"/>
            <a:chOff x="0" y="0"/>
            <a:chExt cx="12612622" cy="8442324"/>
          </a:xfrm>
        </p:grpSpPr>
        <p:sp>
          <p:nvSpPr>
            <p:cNvPr name="Freeform 12" id="12" descr="http://www.clipartroo.com/images/33/group-talking-clipart-33811.png"/>
            <p:cNvSpPr/>
            <p:nvPr/>
          </p:nvSpPr>
          <p:spPr>
            <a:xfrm flipH="false" flipV="false" rot="0">
              <a:off x="0" y="0"/>
              <a:ext cx="12612624" cy="8442325"/>
            </a:xfrm>
            <a:custGeom>
              <a:avLst/>
              <a:gdLst/>
              <a:ahLst/>
              <a:cxnLst/>
              <a:rect r="r" b="b" t="t" l="l"/>
              <a:pathLst>
                <a:path h="8442325" w="12612624">
                  <a:moveTo>
                    <a:pt x="0" y="0"/>
                  </a:moveTo>
                  <a:lnTo>
                    <a:pt x="12612624" y="0"/>
                  </a:lnTo>
                  <a:lnTo>
                    <a:pt x="12612624" y="8442325"/>
                  </a:lnTo>
                  <a:lnTo>
                    <a:pt x="0" y="8442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DAHGqsLirGc</dc:identifier>
  <dcterms:modified xsi:type="dcterms:W3CDTF">2011-08-01T06:04:30Z</dcterms:modified>
  <cp:revision>1</cp:revision>
  <dc:title>PPT 1:EVALUACION INFORMATICA</dc:title>
</cp:coreProperties>
</file>